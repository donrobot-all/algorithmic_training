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312" r:id="rId4"/>
    <p:sldId id="305" r:id="rId5"/>
    <p:sldId id="298" r:id="rId6"/>
    <p:sldId id="306" r:id="rId7"/>
    <p:sldId id="313" r:id="rId8"/>
    <p:sldId id="314" r:id="rId9"/>
    <p:sldId id="315" r:id="rId10"/>
    <p:sldId id="316" r:id="rId11"/>
    <p:sldId id="317" r:id="rId12"/>
    <p:sldId id="318" r:id="rId13"/>
    <p:sldId id="311" r:id="rId14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729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844" autoAdjust="0"/>
  </p:normalViewPr>
  <p:slideViewPr>
    <p:cSldViewPr snapToGrid="0" snapToObjects="1">
      <p:cViewPr varScale="1">
        <p:scale>
          <a:sx n="89" d="100"/>
          <a:sy n="89" d="100"/>
        </p:scale>
        <p:origin x="101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90283" y="282259"/>
            <a:ext cx="128272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4400" dirty="0">
                <a:solidFill>
                  <a:schemeClr val="bg1"/>
                </a:solidFill>
              </a:rPr>
              <a:t>DSU 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2D4C2D-2BCE-9A65-AB4F-74F7C0DE3459}"/>
              </a:ext>
            </a:extLst>
          </p:cNvPr>
          <p:cNvSpPr txBox="1"/>
          <p:nvPr/>
        </p:nvSpPr>
        <p:spPr>
          <a:xfrm rot="1455005">
            <a:off x="9681947" y="994121"/>
            <a:ext cx="49793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i="1" dirty="0">
                <a:solidFill>
                  <a:schemeClr val="bg1"/>
                </a:solidFill>
              </a:rPr>
              <a:t>Для тех, кто любит делать одно и тоже, но разными способами.</a:t>
            </a:r>
          </a:p>
          <a:p>
            <a:pPr algn="ctr"/>
            <a:r>
              <a:rPr lang="ru-RU" i="1" dirty="0">
                <a:solidFill>
                  <a:schemeClr val="bg1"/>
                </a:solidFill>
              </a:rPr>
              <a:t>Прима + </a:t>
            </a:r>
            <a:r>
              <a:rPr lang="ru-RU" dirty="0">
                <a:solidFill>
                  <a:schemeClr val="bg1"/>
                </a:solidFill>
              </a:rPr>
              <a:t>очередь с приоритетом / </a:t>
            </a:r>
            <a:r>
              <a:rPr lang="en-US" dirty="0">
                <a:solidFill>
                  <a:schemeClr val="bg1"/>
                </a:solidFill>
              </a:rPr>
              <a:t>DSU</a:t>
            </a:r>
            <a:r>
              <a:rPr lang="ru-RU" dirty="0">
                <a:solidFill>
                  <a:schemeClr val="bg1"/>
                </a:solidFill>
              </a:rPr>
              <a:t> + </a:t>
            </a:r>
            <a:r>
              <a:rPr lang="ru-RU" dirty="0" err="1">
                <a:solidFill>
                  <a:schemeClr val="bg1"/>
                </a:solidFill>
              </a:rPr>
              <a:t>Краскал</a:t>
            </a:r>
            <a:endParaRPr lang="ru-RU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 descr="Изображение выглядит как зарисовка, круг, рисунок, белый&#10;&#10;Автоматически созданное описание">
            <a:extLst>
              <a:ext uri="{FF2B5EF4-FFF2-40B4-BE49-F238E27FC236}">
                <a16:creationId xmlns:a16="http://schemas.microsoft.com/office/drawing/2014/main" id="{3C8319BE-94A3-58D4-0CAF-F5931023D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593" y="1354793"/>
            <a:ext cx="2920807" cy="357220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23943" y="285886"/>
            <a:ext cx="11753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en-US" b="1" dirty="0"/>
              <a:t>DSU</a:t>
            </a:r>
            <a:endParaRPr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10F0E9-D694-334D-8CD2-4F8DFAAD4E6D}"/>
              </a:ext>
            </a:extLst>
          </p:cNvPr>
          <p:cNvSpPr txBox="1"/>
          <p:nvPr/>
        </p:nvSpPr>
        <p:spPr>
          <a:xfrm>
            <a:off x="437398" y="935162"/>
            <a:ext cx="120522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dirty="0" err="1"/>
              <a:t>Disjoint</a:t>
            </a:r>
            <a:r>
              <a:rPr lang="de-DE" sz="2800" dirty="0"/>
              <a:t> Set Union </a:t>
            </a:r>
            <a:r>
              <a:rPr lang="ru-RU" sz="2800" dirty="0"/>
              <a:t>или система непересекающихся множеств или </a:t>
            </a:r>
            <a:r>
              <a:rPr lang="de-DE" sz="2800" dirty="0"/>
              <a:t>Union-Find</a:t>
            </a:r>
            <a:endParaRPr lang="ru-RU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88096-8C99-0788-5337-9D73B7A926FB}"/>
              </a:ext>
            </a:extLst>
          </p:cNvPr>
          <p:cNvSpPr txBox="1"/>
          <p:nvPr/>
        </p:nvSpPr>
        <p:spPr>
          <a:xfrm>
            <a:off x="761920" y="2098036"/>
            <a:ext cx="1205223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Она отвечает на два ключевых вопроса очень быстро: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ru-RU" sz="2800" dirty="0"/>
              <a:t>В каком множестве находится элемент?</a:t>
            </a:r>
          </a:p>
          <a:p>
            <a:pPr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ru-RU" sz="2800" dirty="0"/>
              <a:t>Как объединить два множества?</a:t>
            </a:r>
            <a:endParaRPr lang="en-US" sz="2800" dirty="0"/>
          </a:p>
          <a:p>
            <a:endParaRPr lang="ru-RU" sz="2800" dirty="0"/>
          </a:p>
          <a:p>
            <a:endParaRPr lang="en-US" sz="2800" dirty="0"/>
          </a:p>
          <a:p>
            <a:pPr algn="ctr"/>
            <a:r>
              <a:rPr lang="ru-RU" sz="2800" dirty="0"/>
              <a:t>Структура данных</a:t>
            </a:r>
            <a:r>
              <a:rPr lang="en-US" sz="2800" dirty="0"/>
              <a:t> </a:t>
            </a:r>
            <a:r>
              <a:rPr lang="ru-RU" sz="2800" dirty="0"/>
              <a:t>которая отслеживает набор элементов, разделённый на непересекающиеся множества.</a:t>
            </a:r>
            <a:r>
              <a:rPr lang="en-US" sz="2800" dirty="0"/>
              <a:t> </a:t>
            </a:r>
            <a:r>
              <a:rPr lang="ru-RU" sz="2800" dirty="0"/>
              <a:t>Нужны тогда, когда есть объекты, между которыми постепенно добавляются связи, и нужно быстро понимать, какие объекты уже связаны между собой, а какие — нет.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399" y="231559"/>
            <a:ext cx="460132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Где используется?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0436" y="2110894"/>
            <a:ext cx="64159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Социальные сети</a:t>
            </a:r>
          </a:p>
          <a:p>
            <a:pPr algn="ctr"/>
            <a:r>
              <a:rPr lang="ru-RU" dirty="0"/>
              <a:t>показывать «общих друзей»</a:t>
            </a:r>
          </a:p>
          <a:p>
            <a:pPr algn="ctr"/>
            <a:r>
              <a:rPr lang="ru-RU" dirty="0"/>
              <a:t>определять группы знакомых</a:t>
            </a:r>
          </a:p>
          <a:p>
            <a:pPr algn="ctr"/>
            <a:r>
              <a:rPr lang="ru-RU" dirty="0"/>
              <a:t>проверять, связан ли пользователь с другим через цепочку друзей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A60FEA-447D-0AD1-64F6-598CE9834FEA}"/>
              </a:ext>
            </a:extLst>
          </p:cNvPr>
          <p:cNvSpPr txBox="1"/>
          <p:nvPr/>
        </p:nvSpPr>
        <p:spPr>
          <a:xfrm>
            <a:off x="170436" y="3985557"/>
            <a:ext cx="6908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Компьютерные и телефонные сети</a:t>
            </a:r>
          </a:p>
          <a:p>
            <a:pPr algn="ctr"/>
            <a:r>
              <a:rPr lang="ru-RU" dirty="0"/>
              <a:t>кабели, </a:t>
            </a:r>
            <a:r>
              <a:rPr lang="ru-RU" dirty="0" err="1"/>
              <a:t>Wi</a:t>
            </a:r>
            <a:r>
              <a:rPr lang="ru-RU" dirty="0"/>
              <a:t>-Fi, соединения добавляются со временем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2A1363-00C8-9FD4-2BD2-62265EF604D8}"/>
              </a:ext>
            </a:extLst>
          </p:cNvPr>
          <p:cNvSpPr txBox="1"/>
          <p:nvPr/>
        </p:nvSpPr>
        <p:spPr>
          <a:xfrm>
            <a:off x="8273975" y="2110894"/>
            <a:ext cx="40959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Дороги и города</a:t>
            </a:r>
          </a:p>
          <a:p>
            <a:pPr algn="ctr"/>
            <a:r>
              <a:rPr lang="ru-RU" dirty="0"/>
              <a:t>планировании новых дорог</a:t>
            </a:r>
          </a:p>
          <a:p>
            <a:pPr algn="ctr"/>
            <a:r>
              <a:rPr lang="ru-RU" dirty="0"/>
              <a:t>анализе связности регионов</a:t>
            </a:r>
          </a:p>
          <a:p>
            <a:pPr algn="ctr"/>
            <a:r>
              <a:rPr lang="ru-RU" dirty="0"/>
              <a:t>минимизации стоимости строительства (</a:t>
            </a:r>
            <a:r>
              <a:rPr lang="ru-RU" dirty="0" err="1"/>
              <a:t>Краскал</a:t>
            </a:r>
            <a:r>
              <a:rPr lang="ru-RU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E2F2B-FAA2-532C-C115-B7943279A0B0}"/>
              </a:ext>
            </a:extLst>
          </p:cNvPr>
          <p:cNvSpPr txBox="1"/>
          <p:nvPr/>
        </p:nvSpPr>
        <p:spPr>
          <a:xfrm>
            <a:off x="6586369" y="3985557"/>
            <a:ext cx="74711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Электросети, водопровод, газ</a:t>
            </a:r>
          </a:p>
          <a:p>
            <a:pPr algn="ctr"/>
            <a:r>
              <a:rPr lang="ru-RU" dirty="0"/>
              <a:t>при проектировании сетей</a:t>
            </a:r>
          </a:p>
          <a:p>
            <a:pPr algn="ctr"/>
            <a:r>
              <a:rPr lang="ru-RU" dirty="0"/>
              <a:t>при авариях (кто остался без связи)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E37FAD-A2DB-F160-E62B-E5894A6BE6E4}"/>
              </a:ext>
            </a:extLst>
          </p:cNvPr>
          <p:cNvSpPr txBox="1"/>
          <p:nvPr/>
        </p:nvSpPr>
        <p:spPr>
          <a:xfrm>
            <a:off x="170436" y="5694312"/>
            <a:ext cx="69082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Кластеризация данных </a:t>
            </a:r>
          </a:p>
          <a:p>
            <a:pPr algn="ctr"/>
            <a:r>
              <a:rPr lang="ru-RU" dirty="0"/>
              <a:t>машинном обучении</a:t>
            </a:r>
          </a:p>
          <a:p>
            <a:pPr algn="ctr"/>
            <a:r>
              <a:rPr lang="ru-RU" dirty="0"/>
              <a:t>анализе больших данных</a:t>
            </a:r>
          </a:p>
          <a:p>
            <a:pPr algn="ctr"/>
            <a:r>
              <a:rPr lang="ru-RU" dirty="0"/>
              <a:t>рекомендательных системах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F9C289-DEB9-A696-653F-4BE24299C1AE}"/>
              </a:ext>
            </a:extLst>
          </p:cNvPr>
          <p:cNvSpPr txBox="1"/>
          <p:nvPr/>
        </p:nvSpPr>
        <p:spPr>
          <a:xfrm>
            <a:off x="6867860" y="5694312"/>
            <a:ext cx="69082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Типичные олимпиадные задачи</a:t>
            </a:r>
          </a:p>
          <a:p>
            <a:pPr algn="ctr"/>
            <a:r>
              <a:rPr lang="ru-RU" dirty="0"/>
              <a:t>объединить x и y</a:t>
            </a:r>
          </a:p>
          <a:p>
            <a:pPr algn="ctr"/>
            <a:r>
              <a:rPr lang="ru-RU" dirty="0"/>
              <a:t>проверить, связаны ли x и y</a:t>
            </a:r>
          </a:p>
        </p:txBody>
      </p:sp>
    </p:spTree>
    <p:extLst>
      <p:ext uri="{BB962C8B-B14F-4D97-AF65-F5344CB8AC3E}">
        <p14:creationId xmlns:p14="http://schemas.microsoft.com/office/powerpoint/2010/main" val="2195923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668767" y="274320"/>
            <a:ext cx="379738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Основная идея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A8A294-EF3A-D2B8-CA62-0581E4018453}"/>
              </a:ext>
            </a:extLst>
          </p:cNvPr>
          <p:cNvSpPr txBox="1"/>
          <p:nvPr/>
        </p:nvSpPr>
        <p:spPr>
          <a:xfrm>
            <a:off x="570157" y="2083680"/>
            <a:ext cx="731519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Каждое множество представляется деревом: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корень дерева — представитель множества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bg1"/>
                </a:solidFill>
              </a:rPr>
              <a:t> каждый элемент хранит ссылку на родителя</a:t>
            </a:r>
          </a:p>
        </p:txBody>
      </p:sp>
    </p:spTree>
    <p:extLst>
      <p:ext uri="{BB962C8B-B14F-4D97-AF65-F5344CB8AC3E}">
        <p14:creationId xmlns:p14="http://schemas.microsoft.com/office/powerpoint/2010/main" val="2612009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61834658-245E-E7B0-3A3F-CBD224E0EEA5}"/>
              </a:ext>
            </a:extLst>
          </p:cNvPr>
          <p:cNvSpPr/>
          <p:nvPr/>
        </p:nvSpPr>
        <p:spPr>
          <a:xfrm>
            <a:off x="7315200" y="2376016"/>
            <a:ext cx="2958354" cy="4077148"/>
          </a:xfrm>
          <a:prstGeom prst="round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E0C8C5E-7614-5F4B-5DC3-C11712D296A0}"/>
              </a:ext>
            </a:extLst>
          </p:cNvPr>
          <p:cNvSpPr/>
          <p:nvPr/>
        </p:nvSpPr>
        <p:spPr>
          <a:xfrm>
            <a:off x="2678705" y="2376016"/>
            <a:ext cx="2850783" cy="4077148"/>
          </a:xfrm>
          <a:prstGeom prst="roundRect">
            <a:avLst/>
          </a:prstGeom>
          <a:solidFill>
            <a:srgbClr val="972996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Box 1"/>
          <p:cNvSpPr txBox="1"/>
          <p:nvPr/>
        </p:nvSpPr>
        <p:spPr>
          <a:xfrm>
            <a:off x="1000389" y="224198"/>
            <a:ext cx="365773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ru-RU" dirty="0"/>
              <a:t>Что это такое?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D6B66-9B37-1205-A4B7-5E1D893B29DF}"/>
              </a:ext>
            </a:extLst>
          </p:cNvPr>
          <p:cNvSpPr txBox="1"/>
          <p:nvPr/>
        </p:nvSpPr>
        <p:spPr>
          <a:xfrm>
            <a:off x="717491" y="1354793"/>
            <a:ext cx="52530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Посмотрим на примере графа</a:t>
            </a: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20C9963C-EFE0-EA6B-E134-1EBB63EBFCB3}"/>
              </a:ext>
            </a:extLst>
          </p:cNvPr>
          <p:cNvSpPr/>
          <p:nvPr/>
        </p:nvSpPr>
        <p:spPr>
          <a:xfrm>
            <a:off x="3969628" y="5151384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97AD7585-0F79-25B0-A2ED-D0664C6E836D}"/>
              </a:ext>
            </a:extLst>
          </p:cNvPr>
          <p:cNvSpPr/>
          <p:nvPr/>
        </p:nvSpPr>
        <p:spPr>
          <a:xfrm>
            <a:off x="2923545" y="4021535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88B0440-43E4-C53C-1E39-94D4E9D2E087}"/>
              </a:ext>
            </a:extLst>
          </p:cNvPr>
          <p:cNvSpPr/>
          <p:nvPr/>
        </p:nvSpPr>
        <p:spPr>
          <a:xfrm>
            <a:off x="3635243" y="269489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DD29E963-907F-47AA-68F5-FFC34C598552}"/>
              </a:ext>
            </a:extLst>
          </p:cNvPr>
          <p:cNvSpPr/>
          <p:nvPr/>
        </p:nvSpPr>
        <p:spPr>
          <a:xfrm>
            <a:off x="7765285" y="5151384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67F0813E-8E08-AAC9-A8CA-E7D40AD27123}"/>
              </a:ext>
            </a:extLst>
          </p:cNvPr>
          <p:cNvSpPr/>
          <p:nvPr/>
        </p:nvSpPr>
        <p:spPr>
          <a:xfrm>
            <a:off x="7862104" y="3078216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2E6633A8-E8A8-B929-8C94-82E03DA0A0C3}"/>
              </a:ext>
            </a:extLst>
          </p:cNvPr>
          <p:cNvSpPr/>
          <p:nvPr/>
        </p:nvSpPr>
        <p:spPr>
          <a:xfrm>
            <a:off x="9282114" y="4638019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FA232E74-72D2-099F-83B6-F69971F08A71}"/>
              </a:ext>
            </a:extLst>
          </p:cNvPr>
          <p:cNvCxnSpPr>
            <a:stCxn id="3" idx="1"/>
            <a:endCxn id="9" idx="5"/>
          </p:cNvCxnSpPr>
          <p:nvPr/>
        </p:nvCxnSpPr>
        <p:spPr>
          <a:xfrm flipH="1" flipV="1">
            <a:off x="3641292" y="4721284"/>
            <a:ext cx="451482" cy="5501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F8558CC4-71C7-6CC5-F7D9-24E1D064626F}"/>
              </a:ext>
            </a:extLst>
          </p:cNvPr>
          <p:cNvCxnSpPr>
            <a:cxnSpLocks/>
            <a:stCxn id="9" idx="0"/>
            <a:endCxn id="10" idx="3"/>
          </p:cNvCxnSpPr>
          <p:nvPr/>
        </p:nvCxnSpPr>
        <p:spPr>
          <a:xfrm flipV="1">
            <a:off x="3343992" y="3394640"/>
            <a:ext cx="414397" cy="6268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A1880241-7D81-44CD-EE93-18B8EFE22486}"/>
              </a:ext>
            </a:extLst>
          </p:cNvPr>
          <p:cNvCxnSpPr>
            <a:cxnSpLocks/>
            <a:stCxn id="11" idx="0"/>
            <a:endCxn id="12" idx="4"/>
          </p:cNvCxnSpPr>
          <p:nvPr/>
        </p:nvCxnSpPr>
        <p:spPr>
          <a:xfrm flipV="1">
            <a:off x="8185732" y="3898023"/>
            <a:ext cx="96819" cy="12533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C9D78127-DA2E-23C1-52A6-468D373C5980}"/>
              </a:ext>
            </a:extLst>
          </p:cNvPr>
          <p:cNvCxnSpPr>
            <a:cxnSpLocks/>
            <a:stCxn id="13" idx="0"/>
            <a:endCxn id="12" idx="5"/>
          </p:cNvCxnSpPr>
          <p:nvPr/>
        </p:nvCxnSpPr>
        <p:spPr>
          <a:xfrm flipH="1" flipV="1">
            <a:off x="8579851" y="3777965"/>
            <a:ext cx="1122710" cy="8600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F3424D8-44FA-C1F0-B400-F8AA4061D0BB}"/>
              </a:ext>
            </a:extLst>
          </p:cNvPr>
          <p:cNvSpPr txBox="1"/>
          <p:nvPr/>
        </p:nvSpPr>
        <p:spPr>
          <a:xfrm>
            <a:off x="3695836" y="1851372"/>
            <a:ext cx="547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S1</a:t>
            </a:r>
            <a:endParaRPr lang="ru-RU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B54A33-A0A5-D707-CFB5-8A83D8C2D107}"/>
              </a:ext>
            </a:extLst>
          </p:cNvPr>
          <p:cNvSpPr txBox="1"/>
          <p:nvPr/>
        </p:nvSpPr>
        <p:spPr>
          <a:xfrm>
            <a:off x="8429205" y="1867061"/>
            <a:ext cx="5475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S2</a:t>
            </a:r>
            <a:endParaRPr lang="ru-RU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7D658EF-8840-C24E-0F5F-2788F3ED93DD}"/>
              </a:ext>
            </a:extLst>
          </p:cNvPr>
          <p:cNvSpPr txBox="1"/>
          <p:nvPr/>
        </p:nvSpPr>
        <p:spPr>
          <a:xfrm>
            <a:off x="2386517" y="6602604"/>
            <a:ext cx="84389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2800" dirty="0"/>
              <a:t>S1</a:t>
            </a:r>
            <a:r>
              <a:rPr lang="ru-RU" sz="2800" dirty="0"/>
              <a:t> </a:t>
            </a:r>
            <a:r>
              <a:rPr lang="ru-RU" sz="2800" b="1" dirty="0"/>
              <a:t>∩</a:t>
            </a:r>
            <a:r>
              <a:rPr lang="de-DE" sz="2800" dirty="0"/>
              <a:t> S2</a:t>
            </a:r>
            <a:r>
              <a:rPr lang="ru-RU" sz="2800" dirty="0"/>
              <a:t> = ∅</a:t>
            </a:r>
          </a:p>
          <a:p>
            <a:pPr algn="ctr"/>
            <a:r>
              <a:rPr lang="ru-RU" sz="2800" dirty="0"/>
              <a:t>Каждое множество имеет своего «представителя»</a:t>
            </a:r>
          </a:p>
        </p:txBody>
      </p:sp>
    </p:spTree>
    <p:extLst>
      <p:ext uri="{BB962C8B-B14F-4D97-AF65-F5344CB8AC3E}">
        <p14:creationId xmlns:p14="http://schemas.microsoft.com/office/powerpoint/2010/main" val="2993972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13610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Узлы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747656" y="1324735"/>
            <a:ext cx="1159674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Каждый узел имеет два основных свойства: </a:t>
            </a:r>
            <a:r>
              <a:rPr lang="en-US" sz="2800" dirty="0">
                <a:solidFill>
                  <a:schemeClr val="bg1"/>
                </a:solidFill>
              </a:rPr>
              <a:t>rank </a:t>
            </a:r>
            <a:r>
              <a:rPr lang="ru-RU" sz="2800" dirty="0">
                <a:solidFill>
                  <a:schemeClr val="bg1"/>
                </a:solidFill>
              </a:rPr>
              <a:t>и </a:t>
            </a:r>
            <a:r>
              <a:rPr lang="en-US" sz="2800" dirty="0">
                <a:solidFill>
                  <a:schemeClr val="bg1"/>
                </a:solidFill>
              </a:rPr>
              <a:t>parent</a:t>
            </a:r>
            <a:r>
              <a:rPr lang="de-DE" sz="2800" dirty="0">
                <a:solidFill>
                  <a:schemeClr val="bg1"/>
                </a:solidFill>
              </a:rPr>
              <a:t>.</a:t>
            </a:r>
          </a:p>
          <a:p>
            <a:r>
              <a:rPr lang="en-US" sz="2800" dirty="0">
                <a:solidFill>
                  <a:schemeClr val="bg1"/>
                </a:solidFill>
              </a:rPr>
              <a:t>rank</a:t>
            </a:r>
            <a:r>
              <a:rPr lang="de-DE" sz="2800" dirty="0">
                <a:solidFill>
                  <a:schemeClr val="bg1"/>
                </a:solidFill>
              </a:rPr>
              <a:t> –</a:t>
            </a:r>
            <a:r>
              <a:rPr lang="ru-RU" sz="2800" dirty="0">
                <a:solidFill>
                  <a:schemeClr val="bg1"/>
                </a:solidFill>
              </a:rPr>
              <a:t> число дочерних элементов плюс один</a:t>
            </a:r>
          </a:p>
          <a:p>
            <a:r>
              <a:rPr lang="en-US" sz="2800" dirty="0">
                <a:solidFill>
                  <a:schemeClr val="bg1"/>
                </a:solidFill>
              </a:rPr>
              <a:t>parent</a:t>
            </a:r>
            <a:r>
              <a:rPr lang="ru-RU" sz="2800" dirty="0">
                <a:solidFill>
                  <a:schemeClr val="bg1"/>
                </a:solidFill>
              </a:rPr>
              <a:t> – родитель узла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5775117-9319-A512-F755-294AAE1FA90A}"/>
              </a:ext>
            </a:extLst>
          </p:cNvPr>
          <p:cNvSpPr/>
          <p:nvPr/>
        </p:nvSpPr>
        <p:spPr>
          <a:xfrm>
            <a:off x="3431745" y="384172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EA35C87-2D94-78F4-3FA4-6ADBC37E3D72}"/>
              </a:ext>
            </a:extLst>
          </p:cNvPr>
          <p:cNvSpPr/>
          <p:nvPr/>
        </p:nvSpPr>
        <p:spPr>
          <a:xfrm>
            <a:off x="8016296" y="384172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893080-250C-E4D1-A47D-CC1DEE00EBCB}"/>
              </a:ext>
            </a:extLst>
          </p:cNvPr>
          <p:cNvSpPr txBox="1"/>
          <p:nvPr/>
        </p:nvSpPr>
        <p:spPr>
          <a:xfrm>
            <a:off x="3191435" y="4661528"/>
            <a:ext cx="17141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Rank</a:t>
            </a:r>
            <a:r>
              <a:rPr lang="ru-RU" sz="2800" dirty="0">
                <a:solidFill>
                  <a:schemeClr val="bg1"/>
                </a:solidFill>
              </a:rPr>
              <a:t> = 1</a:t>
            </a:r>
          </a:p>
          <a:p>
            <a:r>
              <a:rPr lang="en-US" sz="2800" dirty="0">
                <a:solidFill>
                  <a:schemeClr val="bg1"/>
                </a:solidFill>
              </a:rPr>
              <a:t>Parent</a:t>
            </a:r>
            <a:r>
              <a:rPr lang="ru-RU" sz="2800" dirty="0">
                <a:solidFill>
                  <a:schemeClr val="bg1"/>
                </a:solidFill>
              </a:rPr>
              <a:t>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E3F8DD-7E34-4C95-4F91-5D46AE64469F}"/>
              </a:ext>
            </a:extLst>
          </p:cNvPr>
          <p:cNvSpPr txBox="1"/>
          <p:nvPr/>
        </p:nvSpPr>
        <p:spPr>
          <a:xfrm>
            <a:off x="7765228" y="4661527"/>
            <a:ext cx="17141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Rank</a:t>
            </a:r>
            <a:r>
              <a:rPr lang="ru-RU" sz="2800" dirty="0">
                <a:solidFill>
                  <a:schemeClr val="bg1"/>
                </a:solidFill>
              </a:rPr>
              <a:t> = 1</a:t>
            </a:r>
          </a:p>
          <a:p>
            <a:r>
              <a:rPr lang="en-US" sz="2800" dirty="0">
                <a:solidFill>
                  <a:schemeClr val="bg1"/>
                </a:solidFill>
              </a:rPr>
              <a:t>Parent</a:t>
            </a:r>
            <a:r>
              <a:rPr lang="ru-RU" sz="2800" dirty="0">
                <a:solidFill>
                  <a:schemeClr val="bg1"/>
                </a:solidFill>
              </a:rPr>
              <a:t> = 2</a:t>
            </a:r>
          </a:p>
        </p:txBody>
      </p:sp>
      <p:sp>
        <p:nvSpPr>
          <p:cNvPr id="13" name="Дуга 12">
            <a:extLst>
              <a:ext uri="{FF2B5EF4-FFF2-40B4-BE49-F238E27FC236}">
                <a16:creationId xmlns:a16="http://schemas.microsoft.com/office/drawing/2014/main" id="{9E1DC4DC-7339-76C3-D993-D945F31EC253}"/>
              </a:ext>
            </a:extLst>
          </p:cNvPr>
          <p:cNvSpPr/>
          <p:nvPr/>
        </p:nvSpPr>
        <p:spPr>
          <a:xfrm>
            <a:off x="3485478" y="3671887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Дуга 13">
            <a:extLst>
              <a:ext uri="{FF2B5EF4-FFF2-40B4-BE49-F238E27FC236}">
                <a16:creationId xmlns:a16="http://schemas.microsoft.com/office/drawing/2014/main" id="{AE566793-ECD8-4103-C526-1EC9E156E335}"/>
              </a:ext>
            </a:extLst>
          </p:cNvPr>
          <p:cNvSpPr/>
          <p:nvPr/>
        </p:nvSpPr>
        <p:spPr>
          <a:xfrm>
            <a:off x="8067003" y="367188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E543D4-4D7A-A7A5-BAF6-0B27579254C0}"/>
              </a:ext>
            </a:extLst>
          </p:cNvPr>
          <p:cNvSpPr txBox="1"/>
          <p:nvPr/>
        </p:nvSpPr>
        <p:spPr>
          <a:xfrm>
            <a:off x="3301702" y="6266612"/>
            <a:ext cx="6738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</a:rPr>
              <a:t>Что будет, если мы решим их объединить?</a:t>
            </a:r>
          </a:p>
        </p:txBody>
      </p:sp>
    </p:spTree>
    <p:extLst>
      <p:ext uri="{BB962C8B-B14F-4D97-AF65-F5344CB8AC3E}">
        <p14:creationId xmlns:p14="http://schemas.microsoft.com/office/powerpoint/2010/main" val="750037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1329" y="224198"/>
            <a:ext cx="359585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Объединение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B0F41E4D-2400-DD04-1697-926B2BD2B38A}"/>
              </a:ext>
            </a:extLst>
          </p:cNvPr>
          <p:cNvSpPr/>
          <p:nvPr/>
        </p:nvSpPr>
        <p:spPr>
          <a:xfrm>
            <a:off x="3907995" y="3180695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A3DD569-D7E7-5433-D129-52FD9EC4A6FF}"/>
              </a:ext>
            </a:extLst>
          </p:cNvPr>
          <p:cNvSpPr/>
          <p:nvPr/>
        </p:nvSpPr>
        <p:spPr>
          <a:xfrm>
            <a:off x="8492546" y="3194485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F49B9-79F5-60D0-88E5-A25D795A6D65}"/>
              </a:ext>
            </a:extLst>
          </p:cNvPr>
          <p:cNvSpPr txBox="1"/>
          <p:nvPr/>
        </p:nvSpPr>
        <p:spPr>
          <a:xfrm>
            <a:off x="3667685" y="4000502"/>
            <a:ext cx="17141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Rank</a:t>
            </a:r>
            <a:r>
              <a:rPr lang="ru-RU" sz="2800" dirty="0"/>
              <a:t> = 2</a:t>
            </a:r>
          </a:p>
          <a:p>
            <a:r>
              <a:rPr lang="en-US" sz="2800" dirty="0"/>
              <a:t>Parent</a:t>
            </a:r>
            <a:r>
              <a:rPr lang="ru-RU" sz="2800" dirty="0"/>
              <a:t> =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93E452-4F2C-040A-425F-654103B320B3}"/>
              </a:ext>
            </a:extLst>
          </p:cNvPr>
          <p:cNvSpPr txBox="1"/>
          <p:nvPr/>
        </p:nvSpPr>
        <p:spPr>
          <a:xfrm>
            <a:off x="8241478" y="4000501"/>
            <a:ext cx="171410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Rank</a:t>
            </a:r>
            <a:r>
              <a:rPr lang="ru-RU" sz="2800" dirty="0"/>
              <a:t> = 1</a:t>
            </a:r>
          </a:p>
          <a:p>
            <a:r>
              <a:rPr lang="en-US" sz="2800" dirty="0"/>
              <a:t>Parent</a:t>
            </a:r>
            <a:r>
              <a:rPr lang="ru-RU" sz="2800" dirty="0"/>
              <a:t> = 1</a:t>
            </a:r>
          </a:p>
        </p:txBody>
      </p:sp>
      <p:sp>
        <p:nvSpPr>
          <p:cNvPr id="20" name="Дуга 19">
            <a:extLst>
              <a:ext uri="{FF2B5EF4-FFF2-40B4-BE49-F238E27FC236}">
                <a16:creationId xmlns:a16="http://schemas.microsoft.com/office/drawing/2014/main" id="{188A3AC4-6F4A-5E8E-D068-FFD4E1FA1A9D}"/>
              </a:ext>
            </a:extLst>
          </p:cNvPr>
          <p:cNvSpPr/>
          <p:nvPr/>
        </p:nvSpPr>
        <p:spPr>
          <a:xfrm>
            <a:off x="3961728" y="3010861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8DC1737-BD70-ADD2-1DDA-1491CD266B4E}"/>
              </a:ext>
            </a:extLst>
          </p:cNvPr>
          <p:cNvCxnSpPr>
            <a:cxnSpLocks/>
            <a:stCxn id="8" idx="2"/>
            <a:endCxn id="20" idx="2"/>
          </p:cNvCxnSpPr>
          <p:nvPr/>
        </p:nvCxnSpPr>
        <p:spPr>
          <a:xfrm flipH="1">
            <a:off x="4749790" y="3604389"/>
            <a:ext cx="3742756" cy="9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199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623613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Нужно больше множеств</a:t>
            </a:r>
            <a:endParaRPr lang="ru-RU" sz="4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13F2EE-082F-3D64-0707-610E55007F80}"/>
              </a:ext>
            </a:extLst>
          </p:cNvPr>
          <p:cNvSpPr txBox="1"/>
          <p:nvPr/>
        </p:nvSpPr>
        <p:spPr>
          <a:xfrm>
            <a:off x="747656" y="1324735"/>
            <a:ext cx="3684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Rank</a:t>
            </a:r>
            <a:r>
              <a:rPr lang="ru-RU" sz="2800" dirty="0">
                <a:solidFill>
                  <a:schemeClr val="bg1"/>
                </a:solidFill>
              </a:rPr>
              <a:t> = </a:t>
            </a:r>
            <a:r>
              <a:rPr lang="en-US" sz="2800" dirty="0">
                <a:solidFill>
                  <a:schemeClr val="bg1"/>
                </a:solidFill>
              </a:rPr>
              <a:t>[ 1,1,1,1,1 ]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parent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= [ 0,1,2,3,4 ]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5775117-9319-A512-F755-294AAE1FA90A}"/>
              </a:ext>
            </a:extLst>
          </p:cNvPr>
          <p:cNvSpPr/>
          <p:nvPr/>
        </p:nvSpPr>
        <p:spPr>
          <a:xfrm>
            <a:off x="7045756" y="2222430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EA35C87-2D94-78F4-3FA4-6ADBC37E3D72}"/>
              </a:ext>
            </a:extLst>
          </p:cNvPr>
          <p:cNvSpPr/>
          <p:nvPr/>
        </p:nvSpPr>
        <p:spPr>
          <a:xfrm>
            <a:off x="8646348" y="222243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Дуга 12">
            <a:extLst>
              <a:ext uri="{FF2B5EF4-FFF2-40B4-BE49-F238E27FC236}">
                <a16:creationId xmlns:a16="http://schemas.microsoft.com/office/drawing/2014/main" id="{9E1DC4DC-7339-76C3-D993-D945F31EC253}"/>
              </a:ext>
            </a:extLst>
          </p:cNvPr>
          <p:cNvSpPr/>
          <p:nvPr/>
        </p:nvSpPr>
        <p:spPr>
          <a:xfrm>
            <a:off x="7099489" y="205259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Дуга 13">
            <a:extLst>
              <a:ext uri="{FF2B5EF4-FFF2-40B4-BE49-F238E27FC236}">
                <a16:creationId xmlns:a16="http://schemas.microsoft.com/office/drawing/2014/main" id="{AE566793-ECD8-4103-C526-1EC9E156E335}"/>
              </a:ext>
            </a:extLst>
          </p:cNvPr>
          <p:cNvSpPr/>
          <p:nvPr/>
        </p:nvSpPr>
        <p:spPr>
          <a:xfrm>
            <a:off x="8697055" y="205259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искусство, аксессуар, снимок экрана, мешок&#10;&#10;Автоматически созданное описание">
            <a:extLst>
              <a:ext uri="{FF2B5EF4-FFF2-40B4-BE49-F238E27FC236}">
                <a16:creationId xmlns:a16="http://schemas.microsoft.com/office/drawing/2014/main" id="{C697C651-9F31-CB2F-E8F1-27F076194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3539" y="5936143"/>
            <a:ext cx="2962223" cy="2962223"/>
          </a:xfrm>
          <a:prstGeom prst="rect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AD692351-AC69-A730-17D8-FFA53C61AD25}"/>
              </a:ext>
            </a:extLst>
          </p:cNvPr>
          <p:cNvSpPr/>
          <p:nvPr/>
        </p:nvSpPr>
        <p:spPr>
          <a:xfrm>
            <a:off x="7027658" y="3865598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4FA61A3-654D-BD50-947F-116B264675EE}"/>
              </a:ext>
            </a:extLst>
          </p:cNvPr>
          <p:cNvSpPr/>
          <p:nvPr/>
        </p:nvSpPr>
        <p:spPr>
          <a:xfrm>
            <a:off x="8628250" y="3865599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Дуга 16">
            <a:extLst>
              <a:ext uri="{FF2B5EF4-FFF2-40B4-BE49-F238E27FC236}">
                <a16:creationId xmlns:a16="http://schemas.microsoft.com/office/drawing/2014/main" id="{BBA9361D-7002-C3EF-879F-60C0CF4ED4D9}"/>
              </a:ext>
            </a:extLst>
          </p:cNvPr>
          <p:cNvSpPr/>
          <p:nvPr/>
        </p:nvSpPr>
        <p:spPr>
          <a:xfrm>
            <a:off x="7081391" y="3695764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Дуга 17">
            <a:extLst>
              <a:ext uri="{FF2B5EF4-FFF2-40B4-BE49-F238E27FC236}">
                <a16:creationId xmlns:a16="http://schemas.microsoft.com/office/drawing/2014/main" id="{2818F13E-FA05-EFB5-0F7D-75F2924D7F0E}"/>
              </a:ext>
            </a:extLst>
          </p:cNvPr>
          <p:cNvSpPr/>
          <p:nvPr/>
        </p:nvSpPr>
        <p:spPr>
          <a:xfrm>
            <a:off x="8678957" y="3695764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562BAE1-464A-24A7-3178-7583EC9E6BBA}"/>
              </a:ext>
            </a:extLst>
          </p:cNvPr>
          <p:cNvSpPr/>
          <p:nvPr/>
        </p:nvSpPr>
        <p:spPr>
          <a:xfrm>
            <a:off x="10401637" y="279471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Дуга 19">
            <a:extLst>
              <a:ext uri="{FF2B5EF4-FFF2-40B4-BE49-F238E27FC236}">
                <a16:creationId xmlns:a16="http://schemas.microsoft.com/office/drawing/2014/main" id="{B47A5262-CD4A-9083-5CD2-0320EF8E0C81}"/>
              </a:ext>
            </a:extLst>
          </p:cNvPr>
          <p:cNvSpPr/>
          <p:nvPr/>
        </p:nvSpPr>
        <p:spPr>
          <a:xfrm>
            <a:off x="10452344" y="262487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EC0611C-AA82-31BD-4BD6-80973CC46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41" y="2898152"/>
            <a:ext cx="6024919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ru-RU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Операция FIND (поиск представителя)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Назначение: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Найти корень дерева, в котором находится элемент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Алгоритм: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Если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parent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[x] == 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то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— корень.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→ вернуть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Иначе: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рекурсивно найти корень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parent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[x]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записать его в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parent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[x]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(сжатие пути)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вернуть найденный корень</a:t>
            </a:r>
          </a:p>
        </p:txBody>
      </p:sp>
    </p:spTree>
    <p:extLst>
      <p:ext uri="{BB962C8B-B14F-4D97-AF65-F5344CB8AC3E}">
        <p14:creationId xmlns:p14="http://schemas.microsoft.com/office/powerpoint/2010/main" val="3721488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7039" y="274320"/>
            <a:ext cx="118814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de-DE" dirty="0"/>
              <a:t>Find</a:t>
            </a:r>
            <a:endParaRPr lang="ru-RU" dirty="0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217383A-FF4E-B0BD-14BF-0427C62CD5CA}"/>
              </a:ext>
            </a:extLst>
          </p:cNvPr>
          <p:cNvSpPr/>
          <p:nvPr/>
        </p:nvSpPr>
        <p:spPr>
          <a:xfrm>
            <a:off x="6078297" y="2755069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CA55E2B2-FA94-D9EB-216F-266DEA9C480F}"/>
              </a:ext>
            </a:extLst>
          </p:cNvPr>
          <p:cNvSpPr/>
          <p:nvPr/>
        </p:nvSpPr>
        <p:spPr>
          <a:xfrm>
            <a:off x="7856162" y="4068776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Дуга 8">
            <a:extLst>
              <a:ext uri="{FF2B5EF4-FFF2-40B4-BE49-F238E27FC236}">
                <a16:creationId xmlns:a16="http://schemas.microsoft.com/office/drawing/2014/main" id="{2152F394-2969-55A6-14B3-8A197491F791}"/>
              </a:ext>
            </a:extLst>
          </p:cNvPr>
          <p:cNvSpPr/>
          <p:nvPr/>
        </p:nvSpPr>
        <p:spPr>
          <a:xfrm>
            <a:off x="6132030" y="2585235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E4EBD58B-927F-FA3F-A4FD-4CE2A7387624}"/>
              </a:ext>
            </a:extLst>
          </p:cNvPr>
          <p:cNvSpPr/>
          <p:nvPr/>
        </p:nvSpPr>
        <p:spPr>
          <a:xfrm>
            <a:off x="5879900" y="4536355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73043D34-6A42-17F8-21E9-9EDE2E7A996B}"/>
              </a:ext>
            </a:extLst>
          </p:cNvPr>
          <p:cNvSpPr/>
          <p:nvPr/>
        </p:nvSpPr>
        <p:spPr>
          <a:xfrm>
            <a:off x="5882926" y="637854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3A1D6D03-2F47-2776-DD29-48C61C72ADCD}"/>
              </a:ext>
            </a:extLst>
          </p:cNvPr>
          <p:cNvSpPr/>
          <p:nvPr/>
        </p:nvSpPr>
        <p:spPr>
          <a:xfrm>
            <a:off x="8276608" y="637854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816438-3733-FB5B-0199-1364BE820C8C}"/>
              </a:ext>
            </a:extLst>
          </p:cNvPr>
          <p:cNvSpPr txBox="1"/>
          <p:nvPr/>
        </p:nvSpPr>
        <p:spPr>
          <a:xfrm>
            <a:off x="2399185" y="4684648"/>
            <a:ext cx="14305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find(4)</a:t>
            </a:r>
            <a:endParaRPr lang="ru-RU" sz="2800" dirty="0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FC4D742-F6F6-4243-986A-9C0BB45E474B}"/>
              </a:ext>
            </a:extLst>
          </p:cNvPr>
          <p:cNvCxnSpPr>
            <a:cxnSpLocks/>
            <a:stCxn id="6" idx="1"/>
            <a:endCxn id="3" idx="5"/>
          </p:cNvCxnSpPr>
          <p:nvPr/>
        </p:nvCxnSpPr>
        <p:spPr>
          <a:xfrm flipH="1" flipV="1">
            <a:off x="6796044" y="3454818"/>
            <a:ext cx="1183264" cy="734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73EF86AB-47D9-08CF-0BB8-3604EF3F16C2}"/>
              </a:ext>
            </a:extLst>
          </p:cNvPr>
          <p:cNvCxnSpPr>
            <a:cxnSpLocks/>
            <a:stCxn id="11" idx="0"/>
            <a:endCxn id="3" idx="4"/>
          </p:cNvCxnSpPr>
          <p:nvPr/>
        </p:nvCxnSpPr>
        <p:spPr>
          <a:xfrm flipV="1">
            <a:off x="6300347" y="3574876"/>
            <a:ext cx="198397" cy="961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5E71B8F-AB51-3628-B68A-23090BA1FA34}"/>
              </a:ext>
            </a:extLst>
          </p:cNvPr>
          <p:cNvCxnSpPr>
            <a:cxnSpLocks/>
            <a:stCxn id="12" idx="0"/>
            <a:endCxn id="11" idx="4"/>
          </p:cNvCxnSpPr>
          <p:nvPr/>
        </p:nvCxnSpPr>
        <p:spPr>
          <a:xfrm flipH="1" flipV="1">
            <a:off x="6300347" y="5356162"/>
            <a:ext cx="3026" cy="1022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8ED0F2C5-217B-38DD-BEE2-77DC6E7D17F0}"/>
              </a:ext>
            </a:extLst>
          </p:cNvPr>
          <p:cNvCxnSpPr>
            <a:cxnSpLocks/>
            <a:stCxn id="15" idx="2"/>
            <a:endCxn id="12" idx="6"/>
          </p:cNvCxnSpPr>
          <p:nvPr/>
        </p:nvCxnSpPr>
        <p:spPr>
          <a:xfrm flipH="1">
            <a:off x="6723819" y="6788445"/>
            <a:ext cx="15527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50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30780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Тренировка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5775117-9319-A512-F755-294AAE1FA90A}"/>
              </a:ext>
            </a:extLst>
          </p:cNvPr>
          <p:cNvSpPr/>
          <p:nvPr/>
        </p:nvSpPr>
        <p:spPr>
          <a:xfrm>
            <a:off x="7027657" y="2712500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2EA35C87-2D94-78F4-3FA4-6ADBC37E3D72}"/>
              </a:ext>
            </a:extLst>
          </p:cNvPr>
          <p:cNvSpPr/>
          <p:nvPr/>
        </p:nvSpPr>
        <p:spPr>
          <a:xfrm>
            <a:off x="8628249" y="271250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Дуга 12">
            <a:extLst>
              <a:ext uri="{FF2B5EF4-FFF2-40B4-BE49-F238E27FC236}">
                <a16:creationId xmlns:a16="http://schemas.microsoft.com/office/drawing/2014/main" id="{9E1DC4DC-7339-76C3-D993-D945F31EC253}"/>
              </a:ext>
            </a:extLst>
          </p:cNvPr>
          <p:cNvSpPr/>
          <p:nvPr/>
        </p:nvSpPr>
        <p:spPr>
          <a:xfrm>
            <a:off x="7081390" y="254266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Дуга 13">
            <a:extLst>
              <a:ext uri="{FF2B5EF4-FFF2-40B4-BE49-F238E27FC236}">
                <a16:creationId xmlns:a16="http://schemas.microsoft.com/office/drawing/2014/main" id="{AE566793-ECD8-4103-C526-1EC9E156E335}"/>
              </a:ext>
            </a:extLst>
          </p:cNvPr>
          <p:cNvSpPr/>
          <p:nvPr/>
        </p:nvSpPr>
        <p:spPr>
          <a:xfrm>
            <a:off x="8678956" y="254266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1" name="Рисунок 10" descr="Изображение выглядит как искусство, аксессуар, снимок экрана, мешок&#10;&#10;Автоматически созданное описание">
            <a:extLst>
              <a:ext uri="{FF2B5EF4-FFF2-40B4-BE49-F238E27FC236}">
                <a16:creationId xmlns:a16="http://schemas.microsoft.com/office/drawing/2014/main" id="{C697C651-9F31-CB2F-E8F1-27F076194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3539" y="5936143"/>
            <a:ext cx="2962223" cy="2962223"/>
          </a:xfrm>
          <a:prstGeom prst="rect">
            <a:avLst/>
          </a:prstGeom>
        </p:spPr>
      </p:pic>
      <p:sp>
        <p:nvSpPr>
          <p:cNvPr id="12" name="Овал 11">
            <a:extLst>
              <a:ext uri="{FF2B5EF4-FFF2-40B4-BE49-F238E27FC236}">
                <a16:creationId xmlns:a16="http://schemas.microsoft.com/office/drawing/2014/main" id="{AD692351-AC69-A730-17D8-FFA53C61AD25}"/>
              </a:ext>
            </a:extLst>
          </p:cNvPr>
          <p:cNvSpPr/>
          <p:nvPr/>
        </p:nvSpPr>
        <p:spPr>
          <a:xfrm>
            <a:off x="7009559" y="4355668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84FA61A3-654D-BD50-947F-116B264675EE}"/>
              </a:ext>
            </a:extLst>
          </p:cNvPr>
          <p:cNvSpPr/>
          <p:nvPr/>
        </p:nvSpPr>
        <p:spPr>
          <a:xfrm>
            <a:off x="8610151" y="4355669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7" name="Дуга 16">
            <a:extLst>
              <a:ext uri="{FF2B5EF4-FFF2-40B4-BE49-F238E27FC236}">
                <a16:creationId xmlns:a16="http://schemas.microsoft.com/office/drawing/2014/main" id="{BBA9361D-7002-C3EF-879F-60C0CF4ED4D9}"/>
              </a:ext>
            </a:extLst>
          </p:cNvPr>
          <p:cNvSpPr/>
          <p:nvPr/>
        </p:nvSpPr>
        <p:spPr>
          <a:xfrm>
            <a:off x="7063292" y="4185834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Дуга 17">
            <a:extLst>
              <a:ext uri="{FF2B5EF4-FFF2-40B4-BE49-F238E27FC236}">
                <a16:creationId xmlns:a16="http://schemas.microsoft.com/office/drawing/2014/main" id="{2818F13E-FA05-EFB5-0F7D-75F2924D7F0E}"/>
              </a:ext>
            </a:extLst>
          </p:cNvPr>
          <p:cNvSpPr/>
          <p:nvPr/>
        </p:nvSpPr>
        <p:spPr>
          <a:xfrm>
            <a:off x="8660858" y="4185834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D562BAE1-464A-24A7-3178-7583EC9E6BBA}"/>
              </a:ext>
            </a:extLst>
          </p:cNvPr>
          <p:cNvSpPr/>
          <p:nvPr/>
        </p:nvSpPr>
        <p:spPr>
          <a:xfrm>
            <a:off x="10383538" y="328478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Дуга 19">
            <a:extLst>
              <a:ext uri="{FF2B5EF4-FFF2-40B4-BE49-F238E27FC236}">
                <a16:creationId xmlns:a16="http://schemas.microsoft.com/office/drawing/2014/main" id="{B47A5262-CD4A-9083-5CD2-0320EF8E0C81}"/>
              </a:ext>
            </a:extLst>
          </p:cNvPr>
          <p:cNvSpPr/>
          <p:nvPr/>
        </p:nvSpPr>
        <p:spPr>
          <a:xfrm>
            <a:off x="10434245" y="311494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Rectangle 1">
            <a:extLst>
              <a:ext uri="{FF2B5EF4-FFF2-40B4-BE49-F238E27FC236}">
                <a16:creationId xmlns:a16="http://schemas.microsoft.com/office/drawing/2014/main" id="{0EC0611C-AA82-31BD-4BD6-80973CC46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652" y="1667767"/>
            <a:ext cx="190308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find(0)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find(1)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union(0,1)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find(1)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find(0)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union(0,2)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find(2)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find(0)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B3D314B-B52D-52E4-2776-5C9682393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8383" y="1719133"/>
            <a:ext cx="38504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ru-RU" sz="28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b="1" dirty="0">
                <a:solidFill>
                  <a:schemeClr val="bg1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0C0ADD-2B6A-DD68-671B-DFA551F9629E}"/>
              </a:ext>
            </a:extLst>
          </p:cNvPr>
          <p:cNvSpPr/>
          <p:nvPr/>
        </p:nvSpPr>
        <p:spPr>
          <a:xfrm>
            <a:off x="3107274" y="1767395"/>
            <a:ext cx="710005" cy="1034646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F8A2A76-8C4D-4BEB-525C-0A4AA66B5536}"/>
              </a:ext>
            </a:extLst>
          </p:cNvPr>
          <p:cNvSpPr/>
          <p:nvPr/>
        </p:nvSpPr>
        <p:spPr>
          <a:xfrm>
            <a:off x="3107274" y="3388493"/>
            <a:ext cx="710005" cy="1034646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0527042-F596-1BD2-55E9-590C7215FAE9}"/>
              </a:ext>
            </a:extLst>
          </p:cNvPr>
          <p:cNvSpPr/>
          <p:nvPr/>
        </p:nvSpPr>
        <p:spPr>
          <a:xfrm>
            <a:off x="3107274" y="4990624"/>
            <a:ext cx="710005" cy="1034646"/>
          </a:xfrm>
          <a:prstGeom prst="rect">
            <a:avLst/>
          </a:prstGeom>
          <a:solidFill>
            <a:srgbClr val="97299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152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6221" y="274320"/>
            <a:ext cx="359585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rPr lang="ru-RU" dirty="0"/>
              <a:t>Объединение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EEEC3EF-BFDE-687C-7134-A2FC19E40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21" y="1943929"/>
            <a:ext cx="180690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800" dirty="0">
                <a:latin typeface="Arial" panose="020B0604020202020204" pitchFamily="34" charset="0"/>
              </a:rPr>
              <a:t>union(0,1)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dirty="0">
                <a:latin typeface="Arial" panose="020B0604020202020204" pitchFamily="34" charset="0"/>
              </a:rPr>
              <a:t>union(0,2)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800" dirty="0">
                <a:latin typeface="Arial" panose="020B0604020202020204" pitchFamily="34" charset="0"/>
              </a:rPr>
              <a:t>union(3,2)</a:t>
            </a:r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4128C276-A818-8299-0EC2-BA9010DEC01E}"/>
              </a:ext>
            </a:extLst>
          </p:cNvPr>
          <p:cNvSpPr/>
          <p:nvPr/>
        </p:nvSpPr>
        <p:spPr>
          <a:xfrm>
            <a:off x="6939180" y="3111542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A8A77969-3D75-0D6C-41F2-44DD8D259C9A}"/>
              </a:ext>
            </a:extLst>
          </p:cNvPr>
          <p:cNvSpPr/>
          <p:nvPr/>
        </p:nvSpPr>
        <p:spPr>
          <a:xfrm>
            <a:off x="8539772" y="3111543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3" name="Дуга 52">
            <a:extLst>
              <a:ext uri="{FF2B5EF4-FFF2-40B4-BE49-F238E27FC236}">
                <a16:creationId xmlns:a16="http://schemas.microsoft.com/office/drawing/2014/main" id="{72C429FB-9331-5CAC-4A8F-EAD3F18643C7}"/>
              </a:ext>
            </a:extLst>
          </p:cNvPr>
          <p:cNvSpPr/>
          <p:nvPr/>
        </p:nvSpPr>
        <p:spPr>
          <a:xfrm>
            <a:off x="6992913" y="2941708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Дуга 53">
            <a:extLst>
              <a:ext uri="{FF2B5EF4-FFF2-40B4-BE49-F238E27FC236}">
                <a16:creationId xmlns:a16="http://schemas.microsoft.com/office/drawing/2014/main" id="{965D7956-EB07-4BB9-D7B4-10F9F9A20113}"/>
              </a:ext>
            </a:extLst>
          </p:cNvPr>
          <p:cNvSpPr/>
          <p:nvPr/>
        </p:nvSpPr>
        <p:spPr>
          <a:xfrm>
            <a:off x="8590479" y="2941708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Овал 54">
            <a:extLst>
              <a:ext uri="{FF2B5EF4-FFF2-40B4-BE49-F238E27FC236}">
                <a16:creationId xmlns:a16="http://schemas.microsoft.com/office/drawing/2014/main" id="{50330EC3-DA0C-822F-8E30-24FC699E333B}"/>
              </a:ext>
            </a:extLst>
          </p:cNvPr>
          <p:cNvSpPr/>
          <p:nvPr/>
        </p:nvSpPr>
        <p:spPr>
          <a:xfrm>
            <a:off x="6921082" y="4754710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6" name="Овал 55">
            <a:extLst>
              <a:ext uri="{FF2B5EF4-FFF2-40B4-BE49-F238E27FC236}">
                <a16:creationId xmlns:a16="http://schemas.microsoft.com/office/drawing/2014/main" id="{AA8F1C9C-938C-E67E-05C3-686EBD1CC787}"/>
              </a:ext>
            </a:extLst>
          </p:cNvPr>
          <p:cNvSpPr/>
          <p:nvPr/>
        </p:nvSpPr>
        <p:spPr>
          <a:xfrm>
            <a:off x="8521674" y="475471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7" name="Дуга 56">
            <a:extLst>
              <a:ext uri="{FF2B5EF4-FFF2-40B4-BE49-F238E27FC236}">
                <a16:creationId xmlns:a16="http://schemas.microsoft.com/office/drawing/2014/main" id="{11C02BBC-9E29-0FD0-C117-07BE84356B54}"/>
              </a:ext>
            </a:extLst>
          </p:cNvPr>
          <p:cNvSpPr/>
          <p:nvPr/>
        </p:nvSpPr>
        <p:spPr>
          <a:xfrm>
            <a:off x="6974815" y="458487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Дуга 57">
            <a:extLst>
              <a:ext uri="{FF2B5EF4-FFF2-40B4-BE49-F238E27FC236}">
                <a16:creationId xmlns:a16="http://schemas.microsoft.com/office/drawing/2014/main" id="{2CFDF61B-66C2-91F7-2EC3-B5B45D47022F}"/>
              </a:ext>
            </a:extLst>
          </p:cNvPr>
          <p:cNvSpPr/>
          <p:nvPr/>
        </p:nvSpPr>
        <p:spPr>
          <a:xfrm>
            <a:off x="8572381" y="4584876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Овал 58">
            <a:extLst>
              <a:ext uri="{FF2B5EF4-FFF2-40B4-BE49-F238E27FC236}">
                <a16:creationId xmlns:a16="http://schemas.microsoft.com/office/drawing/2014/main" id="{B3C21C21-4F80-A4D0-0245-037C39231AA8}"/>
              </a:ext>
            </a:extLst>
          </p:cNvPr>
          <p:cNvSpPr/>
          <p:nvPr/>
        </p:nvSpPr>
        <p:spPr>
          <a:xfrm>
            <a:off x="10295061" y="3683823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0" name="Дуга 59">
            <a:extLst>
              <a:ext uri="{FF2B5EF4-FFF2-40B4-BE49-F238E27FC236}">
                <a16:creationId xmlns:a16="http://schemas.microsoft.com/office/drawing/2014/main" id="{80B4003A-8492-2FFB-587E-0F6BA0DF2D6B}"/>
              </a:ext>
            </a:extLst>
          </p:cNvPr>
          <p:cNvSpPr/>
          <p:nvPr/>
        </p:nvSpPr>
        <p:spPr>
          <a:xfrm>
            <a:off x="10345768" y="3513988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A766577-D17C-63F7-0D76-B2055C7E646E}"/>
              </a:ext>
            </a:extLst>
          </p:cNvPr>
          <p:cNvSpPr txBox="1"/>
          <p:nvPr/>
        </p:nvSpPr>
        <p:spPr>
          <a:xfrm>
            <a:off x="596221" y="3889308"/>
            <a:ext cx="3684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Rank</a:t>
            </a:r>
            <a:r>
              <a:rPr lang="ru-RU" sz="2800" dirty="0"/>
              <a:t> = </a:t>
            </a:r>
            <a:r>
              <a:rPr lang="en-US" sz="2800" dirty="0"/>
              <a:t>[ 1,1,1,1,1 ]</a:t>
            </a:r>
            <a:endParaRPr lang="ru-RU" sz="2800" dirty="0"/>
          </a:p>
          <a:p>
            <a:r>
              <a:rPr lang="en-US" sz="2800" dirty="0"/>
              <a:t>parent</a:t>
            </a:r>
            <a:r>
              <a:rPr lang="ru-RU" sz="2800" dirty="0"/>
              <a:t> </a:t>
            </a:r>
            <a:r>
              <a:rPr lang="en-US" sz="2800" dirty="0"/>
              <a:t>= [ 0,1,2,3,4 ]</a:t>
            </a:r>
            <a:endParaRPr lang="ru-RU" sz="2800" dirty="0"/>
          </a:p>
        </p:txBody>
      </p:sp>
      <p:sp>
        <p:nvSpPr>
          <p:cNvPr id="63" name="Rectangle 1">
            <a:extLst>
              <a:ext uri="{FF2B5EF4-FFF2-40B4-BE49-F238E27FC236}">
                <a16:creationId xmlns:a16="http://schemas.microsoft.com/office/drawing/2014/main" id="{67A78E3F-F564-BA1D-E39A-798513A49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443" y="6338233"/>
            <a:ext cx="4827347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800" dirty="0">
                <a:latin typeface="Arial" panose="020B0604020202020204" pitchFamily="34" charset="0"/>
              </a:rPr>
              <a:t>Как будет выглядеть граф?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800" dirty="0">
                <a:latin typeface="Arial" panose="020B0604020202020204" pitchFamily="34" charset="0"/>
              </a:rPr>
              <a:t>Что будет в двух массивах?</a:t>
            </a:r>
            <a:endParaRPr lang="en-US" altLang="ru-RU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892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29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0" y="274320"/>
            <a:ext cx="1097280" cy="10804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15D28A-F529-C361-6B0C-54FC6D10368B}"/>
              </a:ext>
            </a:extLst>
          </p:cNvPr>
          <p:cNvSpPr txBox="1"/>
          <p:nvPr/>
        </p:nvSpPr>
        <p:spPr>
          <a:xfrm>
            <a:off x="787102" y="335778"/>
            <a:ext cx="30780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4400" b="1" dirty="0">
                <a:solidFill>
                  <a:schemeClr val="bg1"/>
                </a:solidFill>
              </a:rPr>
              <a:t>Тренировка</a:t>
            </a:r>
          </a:p>
        </p:txBody>
      </p:sp>
      <p:pic>
        <p:nvPicPr>
          <p:cNvPr id="11" name="Рисунок 10" descr="Изображение выглядит как искусство, аксессуар, снимок экрана, мешок&#10;&#10;Автоматически созданное описание">
            <a:extLst>
              <a:ext uri="{FF2B5EF4-FFF2-40B4-BE49-F238E27FC236}">
                <a16:creationId xmlns:a16="http://schemas.microsoft.com/office/drawing/2014/main" id="{C697C651-9F31-CB2F-E8F1-27F076194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23539" y="5936143"/>
            <a:ext cx="2962223" cy="2962223"/>
          </a:xfrm>
          <a:prstGeom prst="rect">
            <a:avLst/>
          </a:prstGeom>
        </p:spPr>
      </p:pic>
      <p:sp>
        <p:nvSpPr>
          <p:cNvPr id="7" name="Овал 6">
            <a:extLst>
              <a:ext uri="{FF2B5EF4-FFF2-40B4-BE49-F238E27FC236}">
                <a16:creationId xmlns:a16="http://schemas.microsoft.com/office/drawing/2014/main" id="{9C99D17F-9703-52C3-E19E-CB19842F98F1}"/>
              </a:ext>
            </a:extLst>
          </p:cNvPr>
          <p:cNvSpPr/>
          <p:nvPr/>
        </p:nvSpPr>
        <p:spPr>
          <a:xfrm>
            <a:off x="9158680" y="2424079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1073A94-C889-090E-F07F-BF857427ED95}"/>
              </a:ext>
            </a:extLst>
          </p:cNvPr>
          <p:cNvSpPr/>
          <p:nvPr/>
        </p:nvSpPr>
        <p:spPr>
          <a:xfrm>
            <a:off x="11398170" y="3560939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Дуга 8">
            <a:extLst>
              <a:ext uri="{FF2B5EF4-FFF2-40B4-BE49-F238E27FC236}">
                <a16:creationId xmlns:a16="http://schemas.microsoft.com/office/drawing/2014/main" id="{FB572F35-4E99-EF9E-516B-0900864FEC5F}"/>
              </a:ext>
            </a:extLst>
          </p:cNvPr>
          <p:cNvSpPr/>
          <p:nvPr/>
        </p:nvSpPr>
        <p:spPr>
          <a:xfrm>
            <a:off x="9196439" y="2146883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E80F2D73-1799-28E9-C410-FDB77600D64C}"/>
              </a:ext>
            </a:extLst>
          </p:cNvPr>
          <p:cNvSpPr/>
          <p:nvPr/>
        </p:nvSpPr>
        <p:spPr>
          <a:xfrm>
            <a:off x="8960283" y="4205365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BFC76421-A19E-B1E8-F042-3427EF7E1C6D}"/>
              </a:ext>
            </a:extLst>
          </p:cNvPr>
          <p:cNvSpPr/>
          <p:nvPr/>
        </p:nvSpPr>
        <p:spPr>
          <a:xfrm>
            <a:off x="10639244" y="5023708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A070B32C-C2F4-D08E-6229-37D57D1A2661}"/>
              </a:ext>
            </a:extLst>
          </p:cNvPr>
          <p:cNvCxnSpPr>
            <a:cxnSpLocks/>
            <a:stCxn id="8" idx="1"/>
            <a:endCxn id="7" idx="6"/>
          </p:cNvCxnSpPr>
          <p:nvPr/>
        </p:nvCxnSpPr>
        <p:spPr>
          <a:xfrm flipH="1" flipV="1">
            <a:off x="9999573" y="2833983"/>
            <a:ext cx="1521743" cy="847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421180F9-0158-9993-6097-A37DABAB6B5F}"/>
              </a:ext>
            </a:extLst>
          </p:cNvPr>
          <p:cNvCxnSpPr>
            <a:cxnSpLocks/>
            <a:stCxn id="10" idx="0"/>
            <a:endCxn id="7" idx="4"/>
          </p:cNvCxnSpPr>
          <p:nvPr/>
        </p:nvCxnSpPr>
        <p:spPr>
          <a:xfrm flipV="1">
            <a:off x="9380730" y="3243886"/>
            <a:ext cx="198397" cy="9614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3963F0EF-5081-2BB9-EDC6-DEFA7528DEBC}"/>
              </a:ext>
            </a:extLst>
          </p:cNvPr>
          <p:cNvCxnSpPr>
            <a:cxnSpLocks/>
            <a:stCxn id="15" idx="0"/>
            <a:endCxn id="7" idx="5"/>
          </p:cNvCxnSpPr>
          <p:nvPr/>
        </p:nvCxnSpPr>
        <p:spPr>
          <a:xfrm flipH="1" flipV="1">
            <a:off x="9876427" y="3123828"/>
            <a:ext cx="1183264" cy="1899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FA9DFFB-EDB4-6A78-F05E-C221EF51A59F}"/>
              </a:ext>
            </a:extLst>
          </p:cNvPr>
          <p:cNvSpPr txBox="1"/>
          <p:nvPr/>
        </p:nvSpPr>
        <p:spPr>
          <a:xfrm>
            <a:off x="2326113" y="1433788"/>
            <a:ext cx="3684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Rank</a:t>
            </a:r>
            <a:r>
              <a:rPr lang="ru-RU" sz="2800" dirty="0">
                <a:solidFill>
                  <a:schemeClr val="bg1"/>
                </a:solidFill>
              </a:rPr>
              <a:t> = </a:t>
            </a:r>
            <a:r>
              <a:rPr lang="en-US" sz="2800" dirty="0">
                <a:solidFill>
                  <a:schemeClr val="bg1"/>
                </a:solidFill>
              </a:rPr>
              <a:t>[ </a:t>
            </a:r>
            <a:r>
              <a:rPr lang="ru-RU" sz="2800" dirty="0">
                <a:solidFill>
                  <a:schemeClr val="bg1"/>
                </a:solidFill>
              </a:rPr>
              <a:t>4,1,1,1,1</a:t>
            </a:r>
            <a:r>
              <a:rPr lang="en-US" sz="2800" dirty="0">
                <a:solidFill>
                  <a:schemeClr val="bg1"/>
                </a:solidFill>
              </a:rPr>
              <a:t> ]</a:t>
            </a:r>
            <a:endParaRPr lang="ru-RU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parent</a:t>
            </a:r>
            <a:r>
              <a:rPr lang="ru-RU" sz="2800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= [ </a:t>
            </a:r>
            <a:r>
              <a:rPr lang="ru-RU" sz="2800" dirty="0">
                <a:solidFill>
                  <a:schemeClr val="bg1"/>
                </a:solidFill>
              </a:rPr>
              <a:t>0,0,0,0</a:t>
            </a:r>
            <a:r>
              <a:rPr lang="en-US" sz="2800" dirty="0">
                <a:solidFill>
                  <a:schemeClr val="bg1"/>
                </a:solidFill>
              </a:rPr>
              <a:t>,4 ]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155955C2-B30A-F822-697D-F6184DE8C826}"/>
              </a:ext>
            </a:extLst>
          </p:cNvPr>
          <p:cNvSpPr/>
          <p:nvPr/>
        </p:nvSpPr>
        <p:spPr>
          <a:xfrm>
            <a:off x="12161285" y="2382061"/>
            <a:ext cx="840893" cy="819807"/>
          </a:xfrm>
          <a:prstGeom prst="ellipse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7" name="Дуга 26">
            <a:extLst>
              <a:ext uri="{FF2B5EF4-FFF2-40B4-BE49-F238E27FC236}">
                <a16:creationId xmlns:a16="http://schemas.microsoft.com/office/drawing/2014/main" id="{6EFD1E66-19BB-42AC-E756-2D9E4D4DDD89}"/>
              </a:ext>
            </a:extLst>
          </p:cNvPr>
          <p:cNvSpPr/>
          <p:nvPr/>
        </p:nvSpPr>
        <p:spPr>
          <a:xfrm>
            <a:off x="12272051" y="2151604"/>
            <a:ext cx="967459" cy="772049"/>
          </a:xfrm>
          <a:prstGeom prst="arc">
            <a:avLst>
              <a:gd name="adj1" fmla="val 10526952"/>
              <a:gd name="adj2" fmla="val 267566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2680F0F2-06B9-A21A-9BE4-CF0750AA4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7787" y="2643189"/>
            <a:ext cx="609032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Операция UNION (объединение)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Назначение: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Объединить множества элементов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 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ru-RU" altLang="ru-RU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Алгоритм: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Найти корни: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=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find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(x)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=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find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(y)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Если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 ==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множества уже объединены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завершить операцию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Иначе: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сравнить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rank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[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]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и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rank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[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]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корень с меньшим рангом подвесить к большему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Если ранги равны: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выбрать один корень</a:t>
            </a:r>
            <a:r>
              <a:rPr lang="ru-RU" altLang="ru-RU" dirty="0">
                <a:solidFill>
                  <a:schemeClr val="bg1"/>
                </a:solidFill>
                <a:latin typeface="Arial" panose="020B0604020202020204" pitchFamily="34" charset="0"/>
              </a:rPr>
              <a:t> и подвесить к нему другой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увеличить его ранг на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853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772400"/>
            <a:ext cx="14630400" cy="457200"/>
          </a:xfrm>
          <a:prstGeom prst="rect">
            <a:avLst/>
          </a:prstGeom>
          <a:solidFill>
            <a:srgbClr val="640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6099C-598E-47B3-EDE4-26ECC9DB1A27}"/>
              </a:ext>
            </a:extLst>
          </p:cNvPr>
          <p:cNvSpPr txBox="1"/>
          <p:nvPr/>
        </p:nvSpPr>
        <p:spPr>
          <a:xfrm>
            <a:off x="-148878" y="261610"/>
            <a:ext cx="53753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solidFill>
                  <a:schemeClr val="bg1"/>
                </a:solidFill>
              </a:rPr>
              <a:t>Попробуем реализовать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DD5DBA-565E-AA92-2E42-624320BB82C5}"/>
              </a:ext>
            </a:extLst>
          </p:cNvPr>
          <p:cNvSpPr txBox="1"/>
          <p:nvPr/>
        </p:nvSpPr>
        <p:spPr>
          <a:xfrm>
            <a:off x="758414" y="1195118"/>
            <a:ext cx="1177962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количество элементов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[i] =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родитель 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</a:t>
            </a: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        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rank[i] = </a:t>
            </a:r>
            <a:r>
              <a:rPr lang="ru-R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ранг (приближённая высота)</a:t>
            </a:r>
            <a:endParaRPr lang="ru-R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ru-R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rank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...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union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True</a:t>
            </a: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de-DE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de-DE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de-DE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  </a:t>
            </a:r>
            <a:r>
              <a:rPr lang="de-DE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de-DE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False</a:t>
            </a: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de-DE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de-DE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40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2532</TotalTime>
  <Words>711</Words>
  <Application>Microsoft Office PowerPoint</Application>
  <PresentationFormat>Произвольный</PresentationFormat>
  <Paragraphs>168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Arial Unicode MS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Илья Паньковский</dc:creator>
  <cp:keywords/>
  <dc:description>generated using python-pptx</dc:description>
  <cp:lastModifiedBy>Илья Паньковский</cp:lastModifiedBy>
  <cp:revision>426</cp:revision>
  <dcterms:created xsi:type="dcterms:W3CDTF">2013-01-27T09:14:16Z</dcterms:created>
  <dcterms:modified xsi:type="dcterms:W3CDTF">2025-12-20T21:34:02Z</dcterms:modified>
  <cp:category/>
</cp:coreProperties>
</file>