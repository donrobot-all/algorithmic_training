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5" r:id="rId4"/>
    <p:sldId id="304" r:id="rId5"/>
    <p:sldId id="298" r:id="rId6"/>
    <p:sldId id="306" r:id="rId7"/>
    <p:sldId id="311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eksforgeeks.org/dsa/prims-minimum-spanning-tree-mst-greedy-algo-5/?ysclid=mj1u6qocbb27329370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etcode.com/problems/min-cost-to-connect-all-points/descrip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90283" y="282259"/>
            <a:ext cx="178927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Прима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434022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Алгоритм Прима</a:t>
            </a:r>
            <a:endParaRPr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0F0E9-D694-334D-8CD2-4F8DFAAD4E6D}"/>
              </a:ext>
            </a:extLst>
          </p:cNvPr>
          <p:cNvSpPr txBox="1"/>
          <p:nvPr/>
        </p:nvSpPr>
        <p:spPr>
          <a:xfrm>
            <a:off x="2201653" y="1343365"/>
            <a:ext cx="95743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это жадный алгоритм для построения минимального </a:t>
            </a:r>
            <a:r>
              <a:rPr lang="ru-RU" sz="2800" dirty="0" err="1"/>
              <a:t>остовного</a:t>
            </a:r>
            <a:r>
              <a:rPr lang="ru-RU" sz="2800" dirty="0"/>
              <a:t> дерева (</a:t>
            </a:r>
            <a:r>
              <a:rPr lang="en-US" sz="2800" dirty="0"/>
              <a:t>Minimum Spanning Tree</a:t>
            </a:r>
            <a:r>
              <a:rPr lang="ru-RU" sz="2800" dirty="0"/>
              <a:t>) в связном взвешенном неориентированном графе. Он начинает с произвольной вершины и последовательно добавляет ребро минимального веса, соединяющее дерево с внешней вершиной, пока все вершины не войдут в дерево.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7D00CA-0847-B082-1DA7-F5C6AFEB6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4950" y="4928795"/>
            <a:ext cx="2843605" cy="2843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68767" y="274320"/>
            <a:ext cx="578158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Minimum Spanning Tree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A294-EF3A-D2B8-CA62-0581E4018453}"/>
              </a:ext>
            </a:extLst>
          </p:cNvPr>
          <p:cNvSpPr txBox="1"/>
          <p:nvPr/>
        </p:nvSpPr>
        <p:spPr>
          <a:xfrm>
            <a:off x="270735" y="2010245"/>
            <a:ext cx="119033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это подмножество рёбер взвешенного связного графа, которое:</a:t>
            </a:r>
          </a:p>
          <a:p>
            <a:pPr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 соединяет все вершины (образует остов → дерево → без циклов)</a:t>
            </a:r>
          </a:p>
          <a:p>
            <a:pPr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 имеет минимальную возможную суммарную длину (вес) всех использованных рёбер</a:t>
            </a:r>
          </a:p>
          <a:p>
            <a:pPr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 не содержит циклов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EC86C9-6235-CC26-7C88-50F3E314381F}"/>
              </a:ext>
            </a:extLst>
          </p:cNvPr>
          <p:cNvSpPr txBox="1"/>
          <p:nvPr/>
        </p:nvSpPr>
        <p:spPr>
          <a:xfrm rot="1455005">
            <a:off x="9032248" y="1099640"/>
            <a:ext cx="58102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bg1"/>
                </a:solidFill>
              </a:rPr>
              <a:t>Остов графа (</a:t>
            </a:r>
            <a:r>
              <a:rPr lang="ru-RU" i="1" dirty="0" err="1">
                <a:solidFill>
                  <a:schemeClr val="bg1"/>
                </a:solidFill>
              </a:rPr>
              <a:t>остовное</a:t>
            </a:r>
            <a:r>
              <a:rPr lang="ru-RU" i="1" dirty="0">
                <a:solidFill>
                  <a:schemeClr val="bg1"/>
                </a:solidFill>
              </a:rPr>
              <a:t> дерево) — связный подграф связного неориентированного графа, который содержит все его вершины. В состав подграфа входят частично или полностью рёбра исходного графа. </a:t>
            </a:r>
          </a:p>
        </p:txBody>
      </p:sp>
      <p:pic>
        <p:nvPicPr>
          <p:cNvPr id="9" name="Рисунок 8" descr="Изображение выглядит как рисунок, линия, зарисовк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8A8C3DDD-CFC6-CFF2-2A17-2DE16B367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903" y="3721772"/>
            <a:ext cx="5020593" cy="4050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B5E37A-D731-DE4E-C9CA-D3E2699EAEEF}"/>
              </a:ext>
            </a:extLst>
          </p:cNvPr>
          <p:cNvSpPr txBox="1"/>
          <p:nvPr/>
        </p:nvSpPr>
        <p:spPr>
          <a:xfrm>
            <a:off x="184020" y="6140498"/>
            <a:ext cx="4258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Коротко</a:t>
            </a:r>
          </a:p>
          <a:p>
            <a:r>
              <a:rPr lang="ru-RU" dirty="0">
                <a:solidFill>
                  <a:schemeClr val="bg1"/>
                </a:solidFill>
              </a:rPr>
              <a:t>MST — это набор дорог минимальной стоимости, который соединяет все вершины.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46013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Где используется?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436" y="2110894"/>
            <a:ext cx="6415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Строительство сетей </a:t>
            </a:r>
          </a:p>
          <a:p>
            <a:pPr algn="ctr"/>
            <a:r>
              <a:rPr lang="ru-RU" dirty="0"/>
              <a:t>Интернет-сеть / электросеть / водопровод / телефонную сеть</a:t>
            </a:r>
          </a:p>
          <a:p>
            <a:pPr algn="ctr"/>
            <a:r>
              <a:rPr lang="ru-RU" dirty="0"/>
              <a:t>Важно соединить все точки, но минимизировать стоимость кабеля/труб.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60FEA-447D-0AD1-64F6-598CE9834FEA}"/>
              </a:ext>
            </a:extLst>
          </p:cNvPr>
          <p:cNvSpPr txBox="1"/>
          <p:nvPr/>
        </p:nvSpPr>
        <p:spPr>
          <a:xfrm>
            <a:off x="6867861" y="2110894"/>
            <a:ext cx="6908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Дизайн транспортных сетей </a:t>
            </a:r>
          </a:p>
          <a:p>
            <a:pPr algn="ctr"/>
            <a:r>
              <a:rPr lang="ru-RU" dirty="0"/>
              <a:t>Планирование дорог, ж/д линий, трубопроводов:</a:t>
            </a:r>
            <a:br>
              <a:rPr lang="ru-RU" dirty="0"/>
            </a:br>
            <a:r>
              <a:rPr lang="ru-RU" dirty="0"/>
              <a:t>соединить всё — но минимальными затратами.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A1363-00C8-9FD4-2BD2-62265EF604D8}"/>
              </a:ext>
            </a:extLst>
          </p:cNvPr>
          <p:cNvSpPr txBox="1"/>
          <p:nvPr/>
        </p:nvSpPr>
        <p:spPr>
          <a:xfrm>
            <a:off x="1330415" y="3872295"/>
            <a:ext cx="40959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Кластеризация данных</a:t>
            </a:r>
          </a:p>
          <a:p>
            <a:pPr algn="ctr"/>
            <a:r>
              <a:rPr lang="ru-RU" dirty="0"/>
              <a:t>строится MST</a:t>
            </a:r>
          </a:p>
          <a:p>
            <a:pPr algn="ctr"/>
            <a:r>
              <a:rPr lang="ru-RU" dirty="0"/>
              <a:t>самые длинные рёбра удаляются</a:t>
            </a:r>
          </a:p>
          <a:p>
            <a:pPr algn="ctr"/>
            <a:r>
              <a:rPr lang="ru-RU" dirty="0"/>
              <a:t>данные разбиваются на кластеры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E2F2B-FAA2-532C-C115-B7943279A0B0}"/>
              </a:ext>
            </a:extLst>
          </p:cNvPr>
          <p:cNvSpPr txBox="1"/>
          <p:nvPr/>
        </p:nvSpPr>
        <p:spPr>
          <a:xfrm>
            <a:off x="6586369" y="3872295"/>
            <a:ext cx="74711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Компрессия изображений</a:t>
            </a:r>
          </a:p>
          <a:p>
            <a:pPr algn="ctr"/>
            <a:r>
              <a:rPr lang="ru-RU" dirty="0"/>
              <a:t>В алгоритмах сегментации изображений MST используется для выделения областей (граф на пикселях).</a:t>
            </a:r>
          </a:p>
        </p:txBody>
      </p:sp>
      <p:pic>
        <p:nvPicPr>
          <p:cNvPr id="10" name="Рисунок 9" descr="Изображение выглядит как снимок экрана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E5774FE-10A7-0A80-2320-16243A930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1" y="5023350"/>
            <a:ext cx="4712657" cy="274904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ипография, рисунок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8C125794-B7A6-0033-E07B-2DF608B03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830" y="5472331"/>
            <a:ext cx="8016687" cy="213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611" y="288765"/>
            <a:ext cx="666951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Ключевая идея алгоритма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3276C-2FC6-2EFE-3B56-5EAF08D27658}"/>
              </a:ext>
            </a:extLst>
          </p:cNvPr>
          <p:cNvSpPr txBox="1"/>
          <p:nvPr/>
        </p:nvSpPr>
        <p:spPr>
          <a:xfrm>
            <a:off x="5495100" y="993639"/>
            <a:ext cx="25731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      2         </a:t>
            </a:r>
            <a:r>
              <a:rPr lang="en-US" sz="2800" dirty="0"/>
              <a:t>3</a:t>
            </a:r>
            <a:endParaRPr lang="ru-RU" sz="2800" dirty="0"/>
          </a:p>
          <a:p>
            <a:r>
              <a:rPr lang="en-US" sz="2800" dirty="0"/>
              <a:t>A-----B---------C</a:t>
            </a:r>
            <a:endParaRPr lang="ru-RU" sz="2800" dirty="0"/>
          </a:p>
          <a:p>
            <a:r>
              <a:rPr lang="en-US" sz="2800" dirty="0"/>
              <a:t>|    </a:t>
            </a:r>
            <a:r>
              <a:rPr lang="ru-RU" sz="2800" dirty="0"/>
              <a:t>   </a:t>
            </a:r>
            <a:r>
              <a:rPr lang="en-US" sz="2800" dirty="0"/>
              <a:t> |       </a:t>
            </a:r>
            <a:r>
              <a:rPr lang="ru-RU" sz="2800" dirty="0"/>
              <a:t>   </a:t>
            </a:r>
            <a:r>
              <a:rPr lang="en-US" sz="2800" dirty="0"/>
              <a:t>  |</a:t>
            </a:r>
            <a:endParaRPr lang="ru-RU" sz="2800" dirty="0"/>
          </a:p>
          <a:p>
            <a:pPr marL="514350" indent="-514350">
              <a:buAutoNum type="arabicPlain"/>
            </a:pPr>
            <a:r>
              <a:rPr lang="ru-RU" sz="2800" dirty="0"/>
              <a:t>   </a:t>
            </a:r>
            <a:r>
              <a:rPr lang="en-US" sz="2800" dirty="0"/>
              <a:t>4      </a:t>
            </a:r>
            <a:r>
              <a:rPr lang="ru-RU" sz="2800" dirty="0"/>
              <a:t>   </a:t>
            </a:r>
            <a:r>
              <a:rPr lang="en-US" sz="2800" dirty="0"/>
              <a:t>   2</a:t>
            </a:r>
            <a:endParaRPr lang="ru-RU" sz="2800" dirty="0"/>
          </a:p>
          <a:p>
            <a:r>
              <a:rPr lang="en-US" sz="2800" dirty="0"/>
              <a:t>|   </a:t>
            </a:r>
            <a:r>
              <a:rPr lang="ru-RU" sz="2800" dirty="0"/>
              <a:t>   </a:t>
            </a:r>
            <a:r>
              <a:rPr lang="en-US" sz="2800" dirty="0"/>
              <a:t>  |       </a:t>
            </a:r>
            <a:r>
              <a:rPr lang="ru-RU" sz="2800" dirty="0"/>
              <a:t> </a:t>
            </a:r>
            <a:r>
              <a:rPr lang="en-US" sz="2800" dirty="0"/>
              <a:t>  </a:t>
            </a:r>
            <a:r>
              <a:rPr lang="ru-RU" sz="2800" dirty="0"/>
              <a:t> </a:t>
            </a:r>
            <a:r>
              <a:rPr lang="en-US" sz="2800" dirty="0"/>
              <a:t>|</a:t>
            </a:r>
            <a:endParaRPr lang="ru-RU" sz="2800" dirty="0"/>
          </a:p>
          <a:p>
            <a:r>
              <a:rPr lang="en-US" sz="2800" dirty="0"/>
              <a:t>D-----E---------F</a:t>
            </a:r>
            <a:endParaRPr lang="ru-RU" sz="2800" dirty="0"/>
          </a:p>
          <a:p>
            <a:r>
              <a:rPr lang="ru-RU" sz="2800" dirty="0"/>
              <a:t>                 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D6B66-9B37-1205-A4B7-5E1D893B29DF}"/>
              </a:ext>
            </a:extLst>
          </p:cNvPr>
          <p:cNvSpPr txBox="1"/>
          <p:nvPr/>
        </p:nvSpPr>
        <p:spPr>
          <a:xfrm>
            <a:off x="534611" y="4036081"/>
            <a:ext cx="106177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Пример построения:</a:t>
            </a:r>
          </a:p>
          <a:p>
            <a:pPr>
              <a:buFont typeface="+mj-lt"/>
              <a:buAutoNum type="arabicPeriod"/>
            </a:pPr>
            <a:r>
              <a:rPr lang="ru-RU" sz="2800" dirty="0"/>
              <a:t>Стартуем из A.</a:t>
            </a:r>
          </a:p>
          <a:p>
            <a:pPr>
              <a:buFont typeface="+mj-lt"/>
              <a:buAutoNum type="arabicPeriod"/>
            </a:pPr>
            <a:r>
              <a:rPr lang="ru-RU" sz="2800" dirty="0"/>
              <a:t>Самое дешёвое ребро из A — A–D (1).</a:t>
            </a:r>
          </a:p>
          <a:p>
            <a:pPr>
              <a:buFont typeface="+mj-lt"/>
              <a:buAutoNum type="arabicPeriod"/>
            </a:pPr>
            <a:r>
              <a:rPr lang="ru-RU" sz="2800" dirty="0"/>
              <a:t>Из вершин {A, D} — A–B (2).</a:t>
            </a:r>
          </a:p>
          <a:p>
            <a:pPr>
              <a:buFont typeface="+mj-lt"/>
              <a:buAutoNum type="arabicPeriod"/>
            </a:pPr>
            <a:r>
              <a:rPr lang="ru-RU" sz="2800" dirty="0"/>
              <a:t>Из {A, D, B} — B–E (4) или E–F (1). Минимум = E–F (1).</a:t>
            </a:r>
          </a:p>
          <a:p>
            <a:pPr>
              <a:buFont typeface="+mj-lt"/>
              <a:buAutoNum type="arabicPeriod"/>
            </a:pPr>
            <a:r>
              <a:rPr lang="ru-RU" sz="2800" dirty="0"/>
              <a:t>Продолжаем, пока не охватим все вершины.</a:t>
            </a:r>
          </a:p>
        </p:txBody>
      </p:sp>
      <p:sp>
        <p:nvSpPr>
          <p:cNvPr id="8" name="TextBox 7">
            <a:hlinkClick r:id="rId3"/>
            <a:extLst>
              <a:ext uri="{FF2B5EF4-FFF2-40B4-BE49-F238E27FC236}">
                <a16:creationId xmlns:a16="http://schemas.microsoft.com/office/drawing/2014/main" id="{4FD1C9AB-9FE7-6326-6005-27E15EA63AB4}"/>
              </a:ext>
            </a:extLst>
          </p:cNvPr>
          <p:cNvSpPr txBox="1"/>
          <p:nvPr/>
        </p:nvSpPr>
        <p:spPr>
          <a:xfrm>
            <a:off x="534611" y="6952593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Визуализация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24852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Алгоритм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47656" y="1324735"/>
            <a:ext cx="115967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Инициализация: Выберите стартовую вершину (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=0), для остальных 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=∞, </a:t>
            </a:r>
            <a:r>
              <a:rPr lang="ru-RU" sz="2800" dirty="0" err="1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=</a:t>
            </a:r>
            <a:r>
              <a:rPr lang="ru-RU" sz="2800" dirty="0" err="1">
                <a:solidFill>
                  <a:schemeClr val="bg1"/>
                </a:solidFill>
              </a:rPr>
              <a:t>None</a:t>
            </a:r>
            <a:r>
              <a:rPr lang="ru-RU" sz="2800" dirty="0">
                <a:solidFill>
                  <a:schemeClr val="bg1"/>
                </a:solidFill>
              </a:rPr>
              <a:t>, </a:t>
            </a:r>
            <a:r>
              <a:rPr lang="ru-RU" sz="2800" dirty="0" err="1">
                <a:solidFill>
                  <a:schemeClr val="bg1"/>
                </a:solidFill>
              </a:rPr>
              <a:t>visited</a:t>
            </a:r>
            <a:r>
              <a:rPr lang="ru-RU" sz="2800" dirty="0">
                <a:solidFill>
                  <a:schemeClr val="bg1"/>
                </a:solidFill>
              </a:rPr>
              <a:t>=</a:t>
            </a:r>
            <a:r>
              <a:rPr lang="ru-RU" sz="2800" dirty="0" err="1">
                <a:solidFill>
                  <a:schemeClr val="bg1"/>
                </a:solidFill>
              </a:rPr>
              <a:t>False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Пока есть не посещенные вершины: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Извлеките </a:t>
            </a:r>
            <a:r>
              <a:rPr lang="ru-RU" sz="2800" dirty="0" err="1">
                <a:solidFill>
                  <a:schemeClr val="bg1"/>
                </a:solidFill>
              </a:rPr>
              <a:t>непосещенную</a:t>
            </a:r>
            <a:r>
              <a:rPr lang="ru-RU" sz="2800" dirty="0">
                <a:solidFill>
                  <a:schemeClr val="bg1"/>
                </a:solidFill>
              </a:rPr>
              <a:t> вершину u с минимальным 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Пометьте u как посещенную.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Для каждого </a:t>
            </a:r>
            <a:r>
              <a:rPr lang="ru-RU" sz="2800" dirty="0" err="1">
                <a:solidFill>
                  <a:schemeClr val="bg1"/>
                </a:solidFill>
              </a:rPr>
              <a:t>непосещенного</a:t>
            </a:r>
            <a:r>
              <a:rPr lang="ru-RU" sz="2800" dirty="0">
                <a:solidFill>
                  <a:schemeClr val="bg1"/>
                </a:solidFill>
              </a:rPr>
              <a:t> соседа v вершины u: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Если вес ребра (</a:t>
            </a:r>
            <a:r>
              <a:rPr lang="ru-RU" sz="2800" dirty="0" err="1">
                <a:solidFill>
                  <a:schemeClr val="bg1"/>
                </a:solidFill>
              </a:rPr>
              <a:t>u,v</a:t>
            </a:r>
            <a:r>
              <a:rPr lang="ru-RU" sz="2800" dirty="0">
                <a:solidFill>
                  <a:schemeClr val="bg1"/>
                </a:solidFill>
              </a:rPr>
              <a:t>) &lt; 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[v], обновите 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[v] и </a:t>
            </a:r>
            <a:r>
              <a:rPr lang="ru-RU" sz="2800" dirty="0" err="1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[v].</a:t>
            </a:r>
          </a:p>
          <a:p>
            <a:r>
              <a:rPr lang="ru-RU" sz="2800" dirty="0">
                <a:solidFill>
                  <a:schemeClr val="bg1"/>
                </a:solidFill>
              </a:rPr>
              <a:t>Результат: дерево </a:t>
            </a:r>
            <a:r>
              <a:rPr lang="ru-RU" sz="2800" dirty="0" err="1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[] и веса </a:t>
            </a:r>
            <a:r>
              <a:rPr lang="ru-RU" sz="2800" dirty="0" err="1">
                <a:solidFill>
                  <a:schemeClr val="bg1"/>
                </a:solidFill>
              </a:rPr>
              <a:t>key</a:t>
            </a:r>
            <a:r>
              <a:rPr lang="ru-RU" sz="2800" dirty="0">
                <a:solidFill>
                  <a:schemeClr val="bg1"/>
                </a:solidFill>
              </a:rPr>
              <a:t>[].</a:t>
            </a:r>
          </a:p>
          <a:p>
            <a:r>
              <a:rPr lang="ru-RU" sz="2800" dirty="0">
                <a:solidFill>
                  <a:schemeClr val="bg1"/>
                </a:solidFill>
              </a:rPr>
              <a:t>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49553-3D22-BEBA-05D8-B22464C6113F}"/>
              </a:ext>
            </a:extLst>
          </p:cNvPr>
          <p:cNvSpPr txBox="1"/>
          <p:nvPr/>
        </p:nvSpPr>
        <p:spPr>
          <a:xfrm>
            <a:off x="747656" y="4861679"/>
            <a:ext cx="73582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solidFill>
                  <a:schemeClr val="bg1"/>
                </a:solidFill>
              </a:rPr>
              <a:t>key</a:t>
            </a:r>
            <a:r>
              <a:rPr lang="ru-RU" dirty="0">
                <a:solidFill>
                  <a:schemeClr val="bg1"/>
                </a:solidFill>
              </a:rPr>
              <a:t>[] — массив минимальных весов ребер от уже включенных в MST вершин к каждой вершине. Для стартовой вершины </a:t>
            </a:r>
            <a:r>
              <a:rPr lang="ru-RU" dirty="0" err="1">
                <a:solidFill>
                  <a:schemeClr val="bg1"/>
                </a:solidFill>
              </a:rPr>
              <a:t>key</a:t>
            </a:r>
            <a:r>
              <a:rPr lang="ru-RU" dirty="0">
                <a:solidFill>
                  <a:schemeClr val="bg1"/>
                </a:solidFill>
              </a:rPr>
              <a:t> = 0 (расстояние до себя), для остальных </a:t>
            </a:r>
            <a:r>
              <a:rPr lang="ru-RU" dirty="0" err="1">
                <a:solidFill>
                  <a:schemeClr val="bg1"/>
                </a:solidFill>
              </a:rPr>
              <a:t>key</a:t>
            </a:r>
            <a:r>
              <a:rPr lang="ru-RU" dirty="0">
                <a:solidFill>
                  <a:schemeClr val="bg1"/>
                </a:solidFill>
              </a:rPr>
              <a:t>[i] = ∞ (бесконечность), пока не найдется ребро из дерева.​</a:t>
            </a:r>
          </a:p>
          <a:p>
            <a:pPr algn="just"/>
            <a:r>
              <a:rPr lang="ru-RU" dirty="0" err="1">
                <a:solidFill>
                  <a:schemeClr val="bg1"/>
                </a:solidFill>
              </a:rPr>
              <a:t>parent</a:t>
            </a:r>
            <a:r>
              <a:rPr lang="ru-RU" dirty="0">
                <a:solidFill>
                  <a:schemeClr val="bg1"/>
                </a:solidFill>
              </a:rPr>
              <a:t>[] — массив "родителей" в MST. </a:t>
            </a:r>
            <a:r>
              <a:rPr lang="ru-RU" dirty="0" err="1">
                <a:solidFill>
                  <a:schemeClr val="bg1"/>
                </a:solidFill>
              </a:rPr>
              <a:t>parent</a:t>
            </a:r>
            <a:r>
              <a:rPr lang="ru-RU" dirty="0">
                <a:solidFill>
                  <a:schemeClr val="bg1"/>
                </a:solidFill>
              </a:rPr>
              <a:t>[i] указывает вершину из дерева, через которую вершина i подключается. Изначально </a:t>
            </a:r>
            <a:r>
              <a:rPr lang="ru-RU" dirty="0" err="1">
                <a:solidFill>
                  <a:schemeClr val="bg1"/>
                </a:solidFill>
              </a:rPr>
              <a:t>parent</a:t>
            </a:r>
            <a:r>
              <a:rPr lang="ru-RU" dirty="0">
                <a:solidFill>
                  <a:schemeClr val="bg1"/>
                </a:solidFill>
              </a:rPr>
              <a:t>[i] = </a:t>
            </a:r>
            <a:r>
              <a:rPr lang="ru-RU" dirty="0" err="1">
                <a:solidFill>
                  <a:schemeClr val="bg1"/>
                </a:solidFill>
              </a:rPr>
              <a:t>None</a:t>
            </a:r>
            <a:r>
              <a:rPr lang="ru-RU" dirty="0">
                <a:solidFill>
                  <a:schemeClr val="bg1"/>
                </a:solidFill>
              </a:rPr>
              <a:t> (-1), заполняется при обновлении </a:t>
            </a:r>
            <a:r>
              <a:rPr lang="ru-RU" dirty="0" err="1">
                <a:solidFill>
                  <a:schemeClr val="bg1"/>
                </a:solidFill>
              </a:rPr>
              <a:t>key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ru-RU" dirty="0" err="1">
                <a:solidFill>
                  <a:schemeClr val="bg1"/>
                </a:solidFill>
              </a:rPr>
              <a:t>visited</a:t>
            </a:r>
            <a:r>
              <a:rPr lang="ru-RU" dirty="0">
                <a:solidFill>
                  <a:schemeClr val="bg1"/>
                </a:solidFill>
              </a:rPr>
              <a:t>[] — булев массив посещенных вершин (включенных в MST). Изначально </a:t>
            </a:r>
            <a:r>
              <a:rPr lang="ru-RU" dirty="0" err="1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 для всех, кроме стартовой (или все </a:t>
            </a:r>
            <a:r>
              <a:rPr lang="ru-RU" dirty="0" err="1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, если стартовая помечается позже). Предотвращает повторное добавление.</a:t>
            </a:r>
          </a:p>
          <a:p>
            <a:pPr algn="just"/>
            <a:r>
              <a:rPr lang="ru-RU" dirty="0">
                <a:solidFill>
                  <a:schemeClr val="bg1"/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-148878" y="261610"/>
            <a:ext cx="5375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Попробуем реализовать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D5DBA-565E-AA92-2E42-624320BB82C5}"/>
              </a:ext>
            </a:extLst>
          </p:cNvPr>
          <p:cNvSpPr txBox="1"/>
          <p:nvPr/>
        </p:nvSpPr>
        <p:spPr>
          <a:xfrm>
            <a:off x="720762" y="1271551"/>
            <a:ext cx="117796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heapq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prim_mst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]]],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)],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вершина 0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вершина 1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)],  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вершина 2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(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    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вершина 3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prim_mst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"Parent:"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[0, 2, 0, 2]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"Key:"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[0, 5, 6, 4]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Общий вес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MST:"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'inf'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</a:t>
            </a:r>
          </a:p>
        </p:txBody>
      </p:sp>
      <p:pic>
        <p:nvPicPr>
          <p:cNvPr id="5" name="Рисунок 4" descr="Изображение выглядит как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B2A0DDB5-3405-2E2F-9386-6C1E21A9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517" y="3216537"/>
            <a:ext cx="4609308" cy="2614108"/>
          </a:xfrm>
          <a:prstGeom prst="rect">
            <a:avLst/>
          </a:prstGeom>
        </p:spPr>
      </p:pic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049B7E71-1A29-F3E8-050F-B18E102C0D58}"/>
              </a:ext>
            </a:extLst>
          </p:cNvPr>
          <p:cNvSpPr txBox="1"/>
          <p:nvPr/>
        </p:nvSpPr>
        <p:spPr>
          <a:xfrm>
            <a:off x="244159" y="7128973"/>
            <a:ext cx="629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1584. Min Cost to Connect All Points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40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710</Words>
  <Application>Microsoft Office PowerPoint</Application>
  <PresentationFormat>Произвольный</PresentationFormat>
  <Paragraphs>69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375</cp:revision>
  <dcterms:created xsi:type="dcterms:W3CDTF">2013-01-27T09:14:16Z</dcterms:created>
  <dcterms:modified xsi:type="dcterms:W3CDTF">2025-12-11T19:46:10Z</dcterms:modified>
  <cp:category/>
</cp:coreProperties>
</file>