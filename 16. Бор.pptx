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304" r:id="rId4"/>
    <p:sldId id="305" r:id="rId5"/>
    <p:sldId id="298" r:id="rId6"/>
    <p:sldId id="306" r:id="rId7"/>
    <p:sldId id="307" r:id="rId8"/>
    <p:sldId id="308" r:id="rId9"/>
    <p:sldId id="309" r:id="rId10"/>
    <p:sldId id="311" r:id="rId11"/>
    <p:sldId id="310" r:id="rId1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29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9" autoAdjust="0"/>
    <p:restoredTop sz="94844" autoAdjust="0"/>
  </p:normalViewPr>
  <p:slideViewPr>
    <p:cSldViewPr snapToGrid="0" snapToObjects="1">
      <p:cViewPr varScale="1">
        <p:scale>
          <a:sx n="89" d="100"/>
          <a:sy n="89" d="100"/>
        </p:scale>
        <p:origin x="101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nRobot-all/Algorithmic_training/blob/main/bor.py" TargetMode="External"/><Relationship Id="rId2" Type="http://schemas.openxmlformats.org/officeDocument/2006/relationships/hyperlink" Target="https://leetcode.com/problems/k-closest-points-to-origin/description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410584" y="335778"/>
            <a:ext cx="108234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Бор</a:t>
            </a:r>
            <a:endParaRPr lang="ru-RU" sz="4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3943" y="285886"/>
            <a:ext cx="110479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Бор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527585" y="1399724"/>
            <a:ext cx="1061779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это дерево, в котором каждая вершина обозначает какую-то строку. На ребрах между вершинами написана 1 буква, таким образом, добираясь по ребрам из корня в какую-нибудь вершину и </a:t>
            </a:r>
            <a:r>
              <a:rPr lang="ru-RU" sz="2800" dirty="0" err="1"/>
              <a:t>конкатерируя</a:t>
            </a:r>
            <a:r>
              <a:rPr lang="ru-RU" sz="2800" dirty="0"/>
              <a:t> буквы из ребер в порядке обхода, мы получим строку, соответствующую этой вершине. </a:t>
            </a:r>
            <a:endParaRPr sz="2800"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6C8D5-71D1-1D65-F038-409582E10C16}"/>
              </a:ext>
            </a:extLst>
          </p:cNvPr>
          <p:cNvSpPr txBox="1"/>
          <p:nvPr/>
        </p:nvSpPr>
        <p:spPr>
          <a:xfrm rot="1025330">
            <a:off x="10678679" y="6009198"/>
            <a:ext cx="38189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i="1" dirty="0"/>
              <a:t>структура данных для хранения набора слов по символам, как дерево, но каждый путь от корня до узла — это префикс какого-то слова.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399" y="231559"/>
            <a:ext cx="476598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Как использовать?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63322" y="1435402"/>
            <a:ext cx="54936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Поиск слова в множестве строк</a:t>
            </a:r>
          </a:p>
          <a:p>
            <a:pPr algn="ctr"/>
            <a:endParaRPr lang="ru-RU" b="1" dirty="0"/>
          </a:p>
          <a:p>
            <a:pPr algn="ctr"/>
            <a:r>
              <a:rPr lang="ru-RU" dirty="0"/>
              <a:t>Например, есть список слов: ["</a:t>
            </a:r>
            <a:r>
              <a:rPr lang="ru-RU" dirty="0" err="1"/>
              <a:t>cat</a:t>
            </a:r>
            <a:r>
              <a:rPr lang="ru-RU" dirty="0"/>
              <a:t>", "</a:t>
            </a:r>
            <a:r>
              <a:rPr lang="ru-RU" dirty="0" err="1"/>
              <a:t>car</a:t>
            </a:r>
            <a:r>
              <a:rPr lang="ru-RU" dirty="0"/>
              <a:t>", "</a:t>
            </a:r>
            <a:r>
              <a:rPr lang="ru-RU" dirty="0" err="1"/>
              <a:t>cart</a:t>
            </a:r>
            <a:r>
              <a:rPr lang="ru-RU" dirty="0"/>
              <a:t>"].</a:t>
            </a:r>
          </a:p>
          <a:p>
            <a:pPr algn="ctr"/>
            <a:r>
              <a:rPr lang="ru-RU" dirty="0"/>
              <a:t>Вместо того чтобы проверять каждое слово по отдельности, можно пройтись по дереву префиксов и за один проход понять, есть ли слово в списке.</a:t>
            </a:r>
            <a:endParaRPr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3C1C1F-60FB-D2B5-D017-CE7E89736C1C}"/>
              </a:ext>
            </a:extLst>
          </p:cNvPr>
          <p:cNvSpPr txBox="1"/>
          <p:nvPr/>
        </p:nvSpPr>
        <p:spPr>
          <a:xfrm>
            <a:off x="1063322" y="4742400"/>
            <a:ext cx="52944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 err="1"/>
              <a:t>Автодополнение</a:t>
            </a:r>
            <a:endParaRPr lang="ru-RU" b="1" dirty="0"/>
          </a:p>
          <a:p>
            <a:pPr algn="ctr"/>
            <a:endParaRPr lang="ru-RU" b="1" dirty="0"/>
          </a:p>
          <a:p>
            <a:pPr algn="ctr"/>
            <a:r>
              <a:rPr lang="ru-RU" dirty="0"/>
              <a:t>Используется в поисковых системах и текстовых редакторах: по введённым первым буквам быстро находим все возможные варианты.</a:t>
            </a: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911F03-95B8-A14B-5DE7-28E444BEA41A}"/>
              </a:ext>
            </a:extLst>
          </p:cNvPr>
          <p:cNvSpPr txBox="1"/>
          <p:nvPr/>
        </p:nvSpPr>
        <p:spPr>
          <a:xfrm>
            <a:off x="7866486" y="1435402"/>
            <a:ext cx="47788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Поиск всех слов с общим префиксом</a:t>
            </a:r>
          </a:p>
          <a:p>
            <a:pPr algn="ctr"/>
            <a:endParaRPr lang="ru-RU" dirty="0"/>
          </a:p>
          <a:p>
            <a:pPr algn="ctr"/>
            <a:r>
              <a:rPr lang="ru-RU" dirty="0"/>
              <a:t>Например, найти все слова, которые начинаются с "</a:t>
            </a:r>
            <a:r>
              <a:rPr lang="ru-RU" dirty="0" err="1"/>
              <a:t>ca</a:t>
            </a:r>
            <a:r>
              <a:rPr lang="ru-RU" dirty="0"/>
              <a:t>".</a:t>
            </a:r>
            <a:endParaRPr lang="ru-RU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FEE296-659A-DC87-392C-C61C2529FDD1}"/>
              </a:ext>
            </a:extLst>
          </p:cNvPr>
          <p:cNvSpPr txBox="1"/>
          <p:nvPr/>
        </p:nvSpPr>
        <p:spPr>
          <a:xfrm>
            <a:off x="7430654" y="4742400"/>
            <a:ext cx="565049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Алгоритм </a:t>
            </a:r>
            <a:r>
              <a:rPr lang="ru-RU" b="1" dirty="0" err="1"/>
              <a:t>Ахо-Корасик</a:t>
            </a:r>
            <a:endParaRPr lang="ru-RU" b="1" dirty="0"/>
          </a:p>
          <a:p>
            <a:pPr algn="ctr"/>
            <a:endParaRPr lang="ru-RU" b="1" dirty="0"/>
          </a:p>
          <a:p>
            <a:pPr algn="ctr"/>
            <a:r>
              <a:rPr lang="ru-RU" dirty="0"/>
              <a:t>Бор является базовой структурой для этого алгоритма. </a:t>
            </a:r>
            <a:r>
              <a:rPr lang="ru-RU" dirty="0" err="1"/>
              <a:t>Ахо-Корасик</a:t>
            </a:r>
            <a:r>
              <a:rPr lang="ru-RU" dirty="0"/>
              <a:t> позволяет искать множество шаблонов одновременно в тексте за время, пропорциональное длине текста плюс суммарной длине шаблонов.</a:t>
            </a:r>
          </a:p>
          <a:p>
            <a:pPr algn="ctr"/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875830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68767" y="274320"/>
            <a:ext cx="424334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Где используется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A8A294-EF3A-D2B8-CA62-0581E4018453}"/>
              </a:ext>
            </a:extLst>
          </p:cNvPr>
          <p:cNvSpPr txBox="1"/>
          <p:nvPr/>
        </p:nvSpPr>
        <p:spPr>
          <a:xfrm>
            <a:off x="1188721" y="1877684"/>
            <a:ext cx="54936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Поисковые подсказки и автозаполнение</a:t>
            </a:r>
          </a:p>
          <a:p>
            <a:pPr algn="ctr"/>
            <a:endParaRPr lang="ru-RU" b="1" dirty="0">
              <a:solidFill>
                <a:schemeClr val="bg1"/>
              </a:solidFill>
            </a:endParaRPr>
          </a:p>
          <a:p>
            <a:pPr algn="ctr"/>
            <a:r>
              <a:rPr lang="ru-RU" dirty="0">
                <a:solidFill>
                  <a:schemeClr val="bg1"/>
                </a:solidFill>
              </a:rPr>
              <a:t>Google, Яндекс и другие поисковики предлагают варианты запросов по мере ввода.</a:t>
            </a:r>
          </a:p>
          <a:p>
            <a:pPr algn="ctr"/>
            <a:r>
              <a:rPr lang="ru-RU" dirty="0">
                <a:solidFill>
                  <a:schemeClr val="bg1"/>
                </a:solidFill>
              </a:rPr>
              <a:t>Например, вводим "</a:t>
            </a:r>
            <a:r>
              <a:rPr lang="ru-RU" dirty="0" err="1">
                <a:solidFill>
                  <a:schemeClr val="bg1"/>
                </a:solidFill>
              </a:rPr>
              <a:t>progra</a:t>
            </a:r>
            <a:r>
              <a:rPr lang="ru-RU" dirty="0">
                <a:solidFill>
                  <a:schemeClr val="bg1"/>
                </a:solidFill>
              </a:rPr>
              <a:t>" → система быстро находит все слова, начинающиеся с "</a:t>
            </a:r>
            <a:r>
              <a:rPr lang="ru-RU" dirty="0" err="1">
                <a:solidFill>
                  <a:schemeClr val="bg1"/>
                </a:solidFill>
              </a:rPr>
              <a:t>progra</a:t>
            </a:r>
            <a:r>
              <a:rPr lang="ru-RU" dirty="0">
                <a:solidFill>
                  <a:schemeClr val="bg1"/>
                </a:solidFill>
              </a:rPr>
              <a:t>" (</a:t>
            </a:r>
            <a:r>
              <a:rPr lang="ru-RU" dirty="0" err="1">
                <a:solidFill>
                  <a:schemeClr val="bg1"/>
                </a:solidFill>
              </a:rPr>
              <a:t>program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ru-RU" dirty="0" err="1">
                <a:solidFill>
                  <a:schemeClr val="bg1"/>
                </a:solidFill>
              </a:rPr>
              <a:t>programming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ru-RU" dirty="0" err="1">
                <a:solidFill>
                  <a:schemeClr val="bg1"/>
                </a:solidFill>
              </a:rPr>
              <a:t>programmer</a:t>
            </a:r>
            <a:r>
              <a:rPr lang="ru-RU" dirty="0">
                <a:solidFill>
                  <a:schemeClr val="bg1"/>
                </a:solidFill>
              </a:rPr>
              <a:t> и т.д.).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127EC8-9339-08BD-B0C0-26A00CCC4968}"/>
              </a:ext>
            </a:extLst>
          </p:cNvPr>
          <p:cNvSpPr txBox="1"/>
          <p:nvPr/>
        </p:nvSpPr>
        <p:spPr>
          <a:xfrm>
            <a:off x="7503460" y="4963575"/>
            <a:ext cx="54936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Словари и проверка орфографии</a:t>
            </a:r>
            <a:endParaRPr lang="en-US" b="1" dirty="0">
              <a:solidFill>
                <a:schemeClr val="bg1"/>
              </a:solidFill>
            </a:endParaRPr>
          </a:p>
          <a:p>
            <a:pPr algn="ctr"/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ru-RU" dirty="0">
                <a:solidFill>
                  <a:schemeClr val="bg1"/>
                </a:solidFill>
              </a:rPr>
              <a:t>Проверка правильности написания слов в текстовых редакторах.</a:t>
            </a:r>
          </a:p>
          <a:p>
            <a:pPr algn="ctr"/>
            <a:r>
              <a:rPr lang="ru-RU" dirty="0">
                <a:solidFill>
                  <a:schemeClr val="bg1"/>
                </a:solidFill>
              </a:rPr>
              <a:t>Быстрый поиск, существует ли слово в словаре.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F411FC-14E5-1529-2494-082F910BE27F}"/>
              </a:ext>
            </a:extLst>
          </p:cNvPr>
          <p:cNvSpPr txBox="1"/>
          <p:nvPr/>
        </p:nvSpPr>
        <p:spPr>
          <a:xfrm>
            <a:off x="7401622" y="1932108"/>
            <a:ext cx="54936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Фильтрация и поиск слов в больших текстах</a:t>
            </a:r>
          </a:p>
          <a:p>
            <a:pPr algn="ctr"/>
            <a:endParaRPr lang="ru-RU" b="1" dirty="0">
              <a:solidFill>
                <a:schemeClr val="bg1"/>
              </a:solidFill>
            </a:endParaRPr>
          </a:p>
          <a:p>
            <a:pPr algn="ctr"/>
            <a:r>
              <a:rPr lang="ru-RU" dirty="0" err="1">
                <a:solidFill>
                  <a:schemeClr val="bg1"/>
                </a:solidFill>
              </a:rPr>
              <a:t>Ахо-Корасик</a:t>
            </a:r>
            <a:r>
              <a:rPr lang="ru-RU" dirty="0">
                <a:solidFill>
                  <a:schemeClr val="bg1"/>
                </a:solidFill>
              </a:rPr>
              <a:t> (на базе Бора) позволяет одновременно искать множество слов в тексте, что удобно для:</a:t>
            </a:r>
          </a:p>
          <a:p>
            <a:pPr algn="ctr"/>
            <a:r>
              <a:rPr lang="ru-RU" dirty="0">
                <a:solidFill>
                  <a:schemeClr val="bg1"/>
                </a:solidFill>
              </a:rPr>
              <a:t>Фильтрации запрещённых слов.</a:t>
            </a:r>
          </a:p>
          <a:p>
            <a:pPr algn="ctr"/>
            <a:r>
              <a:rPr lang="ru-RU" dirty="0">
                <a:solidFill>
                  <a:schemeClr val="bg1"/>
                </a:solidFill>
              </a:rPr>
              <a:t>Поиска ключевых слов в документах или логах.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07273C-DB4B-AF3B-2694-597BD496B4C4}"/>
              </a:ext>
            </a:extLst>
          </p:cNvPr>
          <p:cNvSpPr txBox="1"/>
          <p:nvPr/>
        </p:nvSpPr>
        <p:spPr>
          <a:xfrm>
            <a:off x="1188721" y="4963541"/>
            <a:ext cx="54936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Сжатие данных и индексация</a:t>
            </a:r>
          </a:p>
          <a:p>
            <a:pPr algn="ctr"/>
            <a:endParaRPr lang="ru-RU" b="1" dirty="0">
              <a:solidFill>
                <a:schemeClr val="bg1"/>
              </a:solidFill>
            </a:endParaRPr>
          </a:p>
          <a:p>
            <a:pPr algn="ctr"/>
            <a:r>
              <a:rPr lang="ru-RU" dirty="0">
                <a:solidFill>
                  <a:schemeClr val="bg1"/>
                </a:solidFill>
              </a:rPr>
              <a:t>Хранение больших словарей с общими префиксами экономит память.</a:t>
            </a:r>
          </a:p>
          <a:p>
            <a:pPr algn="ctr"/>
            <a:r>
              <a:rPr lang="ru-RU" dirty="0">
                <a:solidFill>
                  <a:schemeClr val="bg1"/>
                </a:solidFill>
              </a:rPr>
              <a:t>Используется в текстовых редакторах, базах данных и поисковых движках.</a:t>
            </a:r>
          </a:p>
        </p:txBody>
      </p:sp>
    </p:spTree>
    <p:extLst>
      <p:ext uri="{BB962C8B-B14F-4D97-AF65-F5344CB8AC3E}">
        <p14:creationId xmlns:p14="http://schemas.microsoft.com/office/powerpoint/2010/main" val="2612009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92" y="259882"/>
            <a:ext cx="411202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rPr lang="ru-RU" dirty="0"/>
              <a:t>У нас есть слова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35451" y="462147"/>
            <a:ext cx="95949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800" dirty="0"/>
              <a:t>Cat</a:t>
            </a:r>
            <a:endParaRPr lang="ru-RU" sz="2800" dirty="0"/>
          </a:p>
          <a:p>
            <a:pPr algn="ctr"/>
            <a:r>
              <a:rPr lang="de-DE" sz="2800" dirty="0"/>
              <a:t>Car</a:t>
            </a:r>
            <a:endParaRPr lang="ru-RU" sz="2800" dirty="0"/>
          </a:p>
          <a:p>
            <a:pPr algn="ctr"/>
            <a:r>
              <a:rPr lang="de-DE" sz="2800" dirty="0"/>
              <a:t>Dog</a:t>
            </a:r>
            <a:endParaRPr lang="ru-RU" sz="2800"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A4999F-E5E6-C42D-810D-363760847A89}"/>
              </a:ext>
            </a:extLst>
          </p:cNvPr>
          <p:cNvSpPr txBox="1"/>
          <p:nvPr/>
        </p:nvSpPr>
        <p:spPr>
          <a:xfrm>
            <a:off x="307281" y="2147551"/>
            <a:ext cx="946066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Мы начинаем с точки-начала (корня).</a:t>
            </a:r>
          </a:p>
          <a:p>
            <a:r>
              <a:rPr lang="ru-RU" sz="2800" dirty="0"/>
              <a:t>Дальше:</a:t>
            </a:r>
          </a:p>
          <a:p>
            <a:r>
              <a:rPr lang="ru-RU" sz="2800" dirty="0"/>
              <a:t>Чтобы записать «</a:t>
            </a:r>
            <a:r>
              <a:rPr lang="ru-RU" sz="2800" dirty="0" err="1"/>
              <a:t>cat</a:t>
            </a:r>
            <a:r>
              <a:rPr lang="ru-RU" sz="2800" dirty="0"/>
              <a:t>», мы идём: c → a → t, создавая эти вершины, если их ещё нет.</a:t>
            </a:r>
          </a:p>
          <a:p>
            <a:r>
              <a:rPr lang="ru-RU" sz="2800" dirty="0"/>
              <a:t>Чтобы записать «</a:t>
            </a:r>
            <a:r>
              <a:rPr lang="ru-RU" sz="2800" dirty="0" err="1"/>
              <a:t>car</a:t>
            </a:r>
            <a:r>
              <a:rPr lang="ru-RU" sz="2800" dirty="0"/>
              <a:t>», мы не строим заново c → a, они уже есть. Просто добавляем r вместо t на том же уровне.</a:t>
            </a:r>
          </a:p>
          <a:p>
            <a:r>
              <a:rPr lang="ru-RU" sz="2800" dirty="0"/>
              <a:t>Для «</a:t>
            </a:r>
            <a:r>
              <a:rPr lang="ru-RU" sz="2800" dirty="0" err="1"/>
              <a:t>dog</a:t>
            </a:r>
            <a:r>
              <a:rPr lang="ru-RU" sz="2800" dirty="0"/>
              <a:t>» — строим отдельную ветку d → o → g.</a:t>
            </a:r>
          </a:p>
          <a:p>
            <a:r>
              <a:rPr lang="ru-RU" sz="2800" dirty="0"/>
              <a:t>В итоге получается дерево, где:</a:t>
            </a:r>
          </a:p>
          <a:p>
            <a:r>
              <a:rPr lang="ru-RU" sz="2800" dirty="0"/>
              <a:t>Общие начала слов (префиксы) записаны один раз</a:t>
            </a:r>
          </a:p>
          <a:p>
            <a:r>
              <a:rPr lang="ru-RU" sz="2800" dirty="0"/>
              <a:t>Концы слов мы отмечаем специальным флагом «здесь слово заканчивается»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3276C-2FC6-2EFE-3B56-5EAF08D27658}"/>
              </a:ext>
            </a:extLst>
          </p:cNvPr>
          <p:cNvSpPr txBox="1"/>
          <p:nvPr/>
        </p:nvSpPr>
        <p:spPr>
          <a:xfrm>
            <a:off x="9558169" y="2795243"/>
            <a:ext cx="388351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dirty="0"/>
              <a:t> (корень)         </a:t>
            </a:r>
            <a:endParaRPr lang="ru-RU" sz="2800" dirty="0"/>
          </a:p>
          <a:p>
            <a:pPr algn="ctr"/>
            <a:r>
              <a:rPr lang="pt-BR" sz="2800" dirty="0"/>
              <a:t>/       \        </a:t>
            </a:r>
            <a:endParaRPr lang="ru-RU" sz="2800" dirty="0"/>
          </a:p>
          <a:p>
            <a:pPr algn="ctr"/>
            <a:r>
              <a:rPr lang="pt-BR" sz="2800" dirty="0"/>
              <a:t>c         d       </a:t>
            </a:r>
            <a:endParaRPr lang="ru-RU" sz="2800" dirty="0"/>
          </a:p>
          <a:p>
            <a:pPr algn="ctr"/>
            <a:r>
              <a:rPr lang="pt-BR" sz="2800" dirty="0"/>
              <a:t>/           \      </a:t>
            </a:r>
            <a:endParaRPr lang="ru-RU" sz="2800" dirty="0"/>
          </a:p>
          <a:p>
            <a:pPr algn="ctr"/>
            <a:r>
              <a:rPr lang="pt-BR" sz="2800" dirty="0"/>
              <a:t>a             o     </a:t>
            </a:r>
            <a:endParaRPr lang="ru-RU" sz="2800" dirty="0"/>
          </a:p>
          <a:p>
            <a:pPr algn="ctr"/>
            <a:r>
              <a:rPr lang="pt-BR" sz="2800" dirty="0"/>
              <a:t>/ \             \    </a:t>
            </a:r>
            <a:endParaRPr lang="ru-RU" sz="2800" dirty="0"/>
          </a:p>
          <a:p>
            <a:pPr algn="ctr"/>
            <a:r>
              <a:rPr lang="pt-BR" sz="2800" dirty="0"/>
              <a:t>t   r             g    </a:t>
            </a:r>
            <a:endParaRPr lang="ru-RU" sz="2800" dirty="0"/>
          </a:p>
          <a:p>
            <a:pPr algn="ctr"/>
            <a:r>
              <a:rPr lang="pt-BR" sz="2800" dirty="0"/>
              <a:t>*   *             *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993972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787102" y="335778"/>
            <a:ext cx="386913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Другой пример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13F2EE-082F-3D64-0707-610E55007F80}"/>
              </a:ext>
            </a:extLst>
          </p:cNvPr>
          <p:cNvSpPr txBox="1"/>
          <p:nvPr/>
        </p:nvSpPr>
        <p:spPr>
          <a:xfrm>
            <a:off x="1296296" y="1324735"/>
            <a:ext cx="1159674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Строить бор будем последовательным добавление исходных строк. Изначально у нас есть 1 вершина, корень (</a:t>
            </a:r>
            <a:r>
              <a:rPr lang="ru-RU" dirty="0" err="1">
                <a:solidFill>
                  <a:schemeClr val="bg1"/>
                </a:solidFill>
              </a:rPr>
              <a:t>root</a:t>
            </a:r>
            <a:r>
              <a:rPr lang="ru-RU" dirty="0">
                <a:solidFill>
                  <a:schemeClr val="bg1"/>
                </a:solidFill>
              </a:rPr>
              <a:t>) — пустая строка. Добавление строки происходит так: начиная в корне, двигаемся по нашему дереве, выбирая каждый раз ребро, соответствующее очередной букве строки. Если такого ребра нет, то мы создаем его вместе с вершиной. Вот пример построенного бора для строк: 1)</a:t>
            </a:r>
            <a:r>
              <a:rPr lang="ru-RU" dirty="0" err="1">
                <a:solidFill>
                  <a:schemeClr val="bg1"/>
                </a:solidFill>
              </a:rPr>
              <a:t>acab</a:t>
            </a:r>
            <a:r>
              <a:rPr lang="ru-RU" dirty="0">
                <a:solidFill>
                  <a:schemeClr val="bg1"/>
                </a:solidFill>
              </a:rPr>
              <a:t>, 2)</a:t>
            </a:r>
            <a:r>
              <a:rPr lang="ru-RU" dirty="0" err="1">
                <a:solidFill>
                  <a:schemeClr val="bg1"/>
                </a:solidFill>
              </a:rPr>
              <a:t>accc</a:t>
            </a:r>
            <a:r>
              <a:rPr lang="ru-RU" dirty="0">
                <a:solidFill>
                  <a:schemeClr val="bg1"/>
                </a:solidFill>
              </a:rPr>
              <a:t>, 3)</a:t>
            </a:r>
            <a:r>
              <a:rPr lang="ru-RU" dirty="0" err="1">
                <a:solidFill>
                  <a:schemeClr val="bg1"/>
                </a:solidFill>
              </a:rPr>
              <a:t>acac</a:t>
            </a:r>
            <a:r>
              <a:rPr lang="ru-RU" dirty="0">
                <a:solidFill>
                  <a:schemeClr val="bg1"/>
                </a:solidFill>
              </a:rPr>
              <a:t>, 4)</a:t>
            </a:r>
            <a:r>
              <a:rPr lang="ru-RU" dirty="0" err="1">
                <a:solidFill>
                  <a:schemeClr val="bg1"/>
                </a:solidFill>
              </a:rPr>
              <a:t>baca</a:t>
            </a:r>
            <a:r>
              <a:rPr lang="ru-RU" dirty="0">
                <a:solidFill>
                  <a:schemeClr val="bg1"/>
                </a:solidFill>
              </a:rPr>
              <a:t>, 5)</a:t>
            </a:r>
            <a:r>
              <a:rPr lang="ru-RU" dirty="0" err="1">
                <a:solidFill>
                  <a:schemeClr val="bg1"/>
                </a:solidFill>
              </a:rPr>
              <a:t>abb</a:t>
            </a:r>
            <a:r>
              <a:rPr lang="ru-RU" dirty="0">
                <a:solidFill>
                  <a:schemeClr val="bg1"/>
                </a:solidFill>
              </a:rPr>
              <a:t>, 6)z, 7)</a:t>
            </a:r>
            <a:r>
              <a:rPr lang="ru-RU" dirty="0" err="1">
                <a:solidFill>
                  <a:schemeClr val="bg1"/>
                </a:solidFill>
              </a:rPr>
              <a:t>ac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pPr algn="ctr"/>
            <a:endParaRPr lang="ru-RU" dirty="0">
              <a:solidFill>
                <a:schemeClr val="bg1"/>
              </a:solidFill>
            </a:endParaRPr>
          </a:p>
          <a:p>
            <a:pPr algn="ctr"/>
            <a:endParaRPr lang="ru-RU" dirty="0">
              <a:solidFill>
                <a:schemeClr val="bg1"/>
              </a:solidFill>
            </a:endParaRPr>
          </a:p>
          <a:p>
            <a:pPr algn="ctr"/>
            <a:endParaRPr lang="ru-RU" dirty="0">
              <a:solidFill>
                <a:schemeClr val="bg1"/>
              </a:solidFill>
            </a:endParaRPr>
          </a:p>
          <a:p>
            <a:pPr algn="ctr"/>
            <a:endParaRPr lang="ru-RU" dirty="0">
              <a:solidFill>
                <a:schemeClr val="bg1"/>
              </a:solidFill>
            </a:endParaRPr>
          </a:p>
          <a:p>
            <a:pPr algn="ctr"/>
            <a:endParaRPr lang="ru-RU" dirty="0">
              <a:solidFill>
                <a:schemeClr val="bg1"/>
              </a:solidFill>
            </a:endParaRPr>
          </a:p>
          <a:p>
            <a:pPr algn="ctr"/>
            <a:endParaRPr lang="ru-RU" dirty="0">
              <a:solidFill>
                <a:schemeClr val="bg1"/>
              </a:solidFill>
            </a:endParaRPr>
          </a:p>
          <a:p>
            <a:pPr algn="ctr"/>
            <a:endParaRPr lang="ru-RU" dirty="0">
              <a:solidFill>
                <a:schemeClr val="bg1"/>
              </a:solidFill>
            </a:endParaRPr>
          </a:p>
          <a:p>
            <a:pPr algn="ctr"/>
            <a:endParaRPr lang="ru-RU" dirty="0">
              <a:solidFill>
                <a:schemeClr val="bg1"/>
              </a:solidFill>
            </a:endParaRPr>
          </a:p>
          <a:p>
            <a:pPr algn="ctr"/>
            <a:endParaRPr lang="ru-RU" dirty="0">
              <a:solidFill>
                <a:schemeClr val="bg1"/>
              </a:solidFill>
            </a:endParaRPr>
          </a:p>
          <a:p>
            <a:pPr algn="ctr"/>
            <a:endParaRPr lang="ru-RU" dirty="0">
              <a:solidFill>
                <a:schemeClr val="bg1"/>
              </a:solidFill>
            </a:endParaRPr>
          </a:p>
          <a:p>
            <a:pPr algn="ctr"/>
            <a:endParaRPr lang="ru-RU" dirty="0">
              <a:solidFill>
                <a:schemeClr val="bg1"/>
              </a:solidFill>
            </a:endParaRPr>
          </a:p>
          <a:p>
            <a:pPr algn="ctr"/>
            <a:endParaRPr lang="ru-RU" dirty="0">
              <a:solidFill>
                <a:schemeClr val="bg1"/>
              </a:solidFill>
            </a:endParaRPr>
          </a:p>
          <a:p>
            <a:pPr algn="ctr"/>
            <a:endParaRPr lang="ru-RU" dirty="0">
              <a:solidFill>
                <a:schemeClr val="bg1"/>
              </a:solidFill>
            </a:endParaRPr>
          </a:p>
          <a:p>
            <a:pPr algn="ctr"/>
            <a:r>
              <a:rPr lang="ru-RU" dirty="0">
                <a:solidFill>
                  <a:schemeClr val="bg1"/>
                </a:solidFill>
              </a:rPr>
              <a:t>Обратите внимание на добавление строки 7. Она не создает новых вершин и ребер, а процесс ее добавления останавливается во внутренней вершине. Отсюда видно, что для каждой строки необходимо дополнительно хранить признак того является она строкой из условия или нет (красные круги).</a:t>
            </a:r>
          </a:p>
        </p:txBody>
      </p:sp>
      <p:pic>
        <p:nvPicPr>
          <p:cNvPr id="7" name="Рисунок 6" descr="Изображение выглядит как круг, линия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C3A1C3FB-F754-7FEE-0A3E-DAC2886DA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283" y="2677365"/>
            <a:ext cx="3705225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037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3793" y="302266"/>
            <a:ext cx="413125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Крайний случай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750A6-580B-43FF-F7AE-F1D4B9CEF67E}"/>
              </a:ext>
            </a:extLst>
          </p:cNvPr>
          <p:cNvSpPr txBox="1"/>
          <p:nvPr/>
        </p:nvSpPr>
        <p:spPr>
          <a:xfrm>
            <a:off x="763793" y="1337817"/>
            <a:ext cx="126952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Отметим также что, две строки в боре имеют общие ребра при условии наличия у них общего префикса. Крайний случай — все строки образцы попарно не имеют одинаковой начальной части. Значит верхняя оценка для числа вершин в боре — сумма длин всех строк + 1(корень). </a:t>
            </a:r>
          </a:p>
        </p:txBody>
      </p:sp>
    </p:spTree>
    <p:extLst>
      <p:ext uri="{BB962C8B-B14F-4D97-AF65-F5344CB8AC3E}">
        <p14:creationId xmlns:p14="http://schemas.microsoft.com/office/powerpoint/2010/main" val="4096983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392767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Бор на словаре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C9503D-E006-E25B-3E40-0FC427E4F441}"/>
              </a:ext>
            </a:extLst>
          </p:cNvPr>
          <p:cNvSpPr txBox="1"/>
          <p:nvPr/>
        </p:nvSpPr>
        <p:spPr>
          <a:xfrm>
            <a:off x="774551" y="1469332"/>
            <a:ext cx="126671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Каждая вершина — это словарь вида:</a:t>
            </a:r>
          </a:p>
          <a:p>
            <a:r>
              <a:rPr lang="ru-RU" sz="2800" dirty="0">
                <a:solidFill>
                  <a:schemeClr val="bg1"/>
                </a:solidFill>
              </a:rPr>
              <a:t>{  </a:t>
            </a:r>
          </a:p>
          <a:p>
            <a:r>
              <a:rPr lang="ru-RU" sz="2800" dirty="0">
                <a:solidFill>
                  <a:schemeClr val="bg1"/>
                </a:solidFill>
              </a:rPr>
              <a:t>	'c': {...},  </a:t>
            </a:r>
          </a:p>
          <a:p>
            <a:r>
              <a:rPr lang="ru-RU" sz="2800" dirty="0">
                <a:solidFill>
                  <a:schemeClr val="bg1"/>
                </a:solidFill>
              </a:rPr>
              <a:t>	'd': {...},  </a:t>
            </a:r>
          </a:p>
          <a:p>
            <a:r>
              <a:rPr lang="ru-RU" sz="2800" dirty="0">
                <a:solidFill>
                  <a:schemeClr val="bg1"/>
                </a:solidFill>
              </a:rPr>
              <a:t>	'#': True    ← означает конец слова</a:t>
            </a:r>
          </a:p>
          <a:p>
            <a:r>
              <a:rPr lang="ru-RU" sz="28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12921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1532" y="274320"/>
            <a:ext cx="509530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b="1" dirty="0"/>
              <a:t>Структура и данные</a:t>
            </a:r>
            <a:endParaRPr lang="ru-RU"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03B21E-6D13-78D3-2AA9-AB169A9E2EDB}"/>
              </a:ext>
            </a:extLst>
          </p:cNvPr>
          <p:cNvSpPr txBox="1"/>
          <p:nvPr/>
        </p:nvSpPr>
        <p:spPr>
          <a:xfrm>
            <a:off x="461532" y="1698754"/>
            <a:ext cx="1268431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Входные данные</a:t>
            </a:r>
          </a:p>
          <a:p>
            <a:r>
              <a:rPr lang="ru-RU" sz="2800" dirty="0"/>
              <a:t>Набор слов.</a:t>
            </a:r>
          </a:p>
          <a:p>
            <a:r>
              <a:rPr lang="ru-RU" sz="2800" dirty="0"/>
              <a:t>Префикс, по которому хотим найти подходящие слова.</a:t>
            </a:r>
          </a:p>
          <a:p>
            <a:endParaRPr lang="ru-RU" sz="2800" dirty="0"/>
          </a:p>
          <a:p>
            <a:endParaRPr lang="ru-RU" sz="2800" dirty="0"/>
          </a:p>
          <a:p>
            <a:endParaRPr lang="ru-RU" sz="2800" dirty="0"/>
          </a:p>
          <a:p>
            <a:r>
              <a:rPr lang="ru-RU" sz="2800" dirty="0"/>
              <a:t>Структура данных</a:t>
            </a:r>
          </a:p>
          <a:p>
            <a:r>
              <a:rPr lang="ru-RU" sz="2800" dirty="0"/>
              <a:t>Бор представляем как вложенные словари:</a:t>
            </a:r>
          </a:p>
          <a:p>
            <a:r>
              <a:rPr lang="ru-RU" sz="2800" dirty="0"/>
              <a:t>Каждый ключ — буква.</a:t>
            </a:r>
          </a:p>
          <a:p>
            <a:r>
              <a:rPr lang="ru-RU" sz="2800" dirty="0"/>
              <a:t>Значение — следующий словарь.</a:t>
            </a:r>
          </a:p>
          <a:p>
            <a:r>
              <a:rPr lang="ru-RU" sz="2800" dirty="0"/>
              <a:t>Специальный ключ '#' означает, что на этом месте заканчивается какое-то слово.</a:t>
            </a:r>
          </a:p>
        </p:txBody>
      </p:sp>
    </p:spTree>
    <p:extLst>
      <p:ext uri="{BB962C8B-B14F-4D97-AF65-F5344CB8AC3E}">
        <p14:creationId xmlns:p14="http://schemas.microsoft.com/office/powerpoint/2010/main" val="4244350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255768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Алгоритм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C9503D-E006-E25B-3E40-0FC427E4F441}"/>
              </a:ext>
            </a:extLst>
          </p:cNvPr>
          <p:cNvSpPr txBox="1"/>
          <p:nvPr/>
        </p:nvSpPr>
        <p:spPr>
          <a:xfrm>
            <a:off x="312868" y="814556"/>
            <a:ext cx="1400466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Шаг 1. Построить Бор по словарю слов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Для каждого слова: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Начинаем с корня (пустого словаря).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Берём слово по буквам слева направо.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Если текущая буква уже есть в словаре — переходим в этот вложенный словарь.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Если буквы нет — создаём новый пустой словарь и переходим в него.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Когда буквы слова закончились — добавляем ключ '#', означающий конец слова.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После обработки всех слов получается дерево, где общие начала слов записаны один раз.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Шаг 2. Найти вершину, соответствующую префиксу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Начинаем с корня.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Берём префикс по буквам.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Если буква есть в словаре — идём в соответствующий вложенный словарь.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Если буквы нет — значит нет ни одного слова с таким префиксом, ответ пустой.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Если дошли до конца префикса — мы стоим в вершине, с которой начинаются нужные слова.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Шаг 3. Собрать все слова, которые начинаются с этого префикса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Запускаем глубинный обход (DFS) от найденной вершины: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Если в текущем узле есть ключ '#' — то текущее собранное слово добавляем в список результатов.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Для каждой буквы (кроме '#') рекурсивно запускаем обход дальше, добавляя эту букву к формируемому слову.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Когда обход поддерева завершён, у нас есть все слова, начинающиеся с нужного префикса.</a:t>
            </a:r>
          </a:p>
        </p:txBody>
      </p:sp>
    </p:spTree>
    <p:extLst>
      <p:ext uri="{BB962C8B-B14F-4D97-AF65-F5344CB8AC3E}">
        <p14:creationId xmlns:p14="http://schemas.microsoft.com/office/powerpoint/2010/main" val="2874104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6099C-598E-47B3-EDE4-26ECC9DB1A27}"/>
              </a:ext>
            </a:extLst>
          </p:cNvPr>
          <p:cNvSpPr txBox="1"/>
          <p:nvPr/>
        </p:nvSpPr>
        <p:spPr>
          <a:xfrm>
            <a:off x="198120" y="0"/>
            <a:ext cx="537536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9600" dirty="0">
                <a:solidFill>
                  <a:schemeClr val="bg1"/>
                </a:solidFill>
              </a:rPr>
              <a:t>Начнём</a:t>
            </a:r>
          </a:p>
        </p:txBody>
      </p:sp>
      <p:sp>
        <p:nvSpPr>
          <p:cNvPr id="3" name="TextBox 2">
            <a:hlinkClick r:id="rId2"/>
            <a:extLst>
              <a:ext uri="{FF2B5EF4-FFF2-40B4-BE49-F238E27FC236}">
                <a16:creationId xmlns:a16="http://schemas.microsoft.com/office/drawing/2014/main" id="{F263BED0-B41B-C765-CA45-6041AB99CB35}"/>
              </a:ext>
            </a:extLst>
          </p:cNvPr>
          <p:cNvSpPr txBox="1"/>
          <p:nvPr/>
        </p:nvSpPr>
        <p:spPr>
          <a:xfrm>
            <a:off x="714689" y="6993136"/>
            <a:ext cx="18241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Бор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B19FAB-2D7B-C4DE-B61C-C20A4FEB418A}"/>
              </a:ext>
            </a:extLst>
          </p:cNvPr>
          <p:cNvSpPr txBox="1"/>
          <p:nvPr/>
        </p:nvSpPr>
        <p:spPr>
          <a:xfrm>
            <a:off x="5573485" y="437495"/>
            <a:ext cx="9886277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-----------------------------------------</a:t>
            </a:r>
            <a:endParaRPr lang="ru-RU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Построение бора (</a:t>
            </a:r>
            <a:r>
              <a:rPr lang="de-DE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trie</a:t>
            </a:r>
            <a:r>
              <a:rPr lang="de-D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de-DE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-----------------------------------------</a:t>
            </a:r>
            <a:endParaRPr lang="de-DE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build_trie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b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-----------------------------------------</a:t>
            </a:r>
            <a:endParaRPr lang="de-DE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Поиск узла, соответствующего префиксу</a:t>
            </a:r>
            <a:endParaRPr lang="ru-RU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-----------------------------------------</a:t>
            </a:r>
            <a:endParaRPr lang="ru-RU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find_prefix_node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b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-----------------------------------------</a:t>
            </a:r>
            <a:endParaRPr lang="de-DE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DFS </a:t>
            </a:r>
            <a:r>
              <a:rPr lang="ru-RU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для сбора всех слов из вершины</a:t>
            </a:r>
            <a:endParaRPr lang="ru-RU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de-DE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de-D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— </a:t>
            </a:r>
            <a:r>
              <a:rPr lang="ru-RU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собранное слово на данный момент</a:t>
            </a:r>
            <a:endParaRPr lang="ru-RU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-----------------------------------------</a:t>
            </a:r>
            <a:endParaRPr lang="ru-RU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collect_words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b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-----------------------------------------</a:t>
            </a:r>
            <a:endParaRPr lang="de-DE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Главная функция </a:t>
            </a:r>
            <a:r>
              <a:rPr lang="ru-RU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автодополнения</a:t>
            </a:r>
            <a:endParaRPr lang="ru-RU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-----------------------------------------</a:t>
            </a:r>
            <a:endParaRPr lang="ru-RU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autocomplete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prefix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b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cat</a:t>
            </a:r>
            <a:r>
              <a:rPr lang="de-DE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de-DE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cartoon</a:t>
            </a:r>
            <a:r>
              <a:rPr lang="de-DE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carbon</a:t>
            </a:r>
            <a:r>
              <a:rPr lang="de-DE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dog</a:t>
            </a:r>
            <a:r>
              <a:rPr lang="de-DE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door</a:t>
            </a:r>
            <a:r>
              <a:rPr lang="de-DE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de-D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trie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build_trie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autocomplete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trie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ca</a:t>
            </a:r>
            <a:r>
              <a:rPr lang="de-DE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 </a:t>
            </a:r>
            <a:r>
              <a:rPr lang="de-D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['</a:t>
            </a:r>
            <a:r>
              <a:rPr lang="de-DE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cat</a:t>
            </a:r>
            <a:r>
              <a:rPr lang="de-D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de-DE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car</a:t>
            </a:r>
            <a:r>
              <a:rPr lang="de-D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de-DE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cartoon</a:t>
            </a:r>
            <a:r>
              <a:rPr lang="de-D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de-DE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carbon</a:t>
            </a:r>
            <a:r>
              <a:rPr lang="de-D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']</a:t>
            </a:r>
            <a:endParaRPr lang="de-DE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autocomplete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trie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"do"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 </a:t>
            </a:r>
            <a:r>
              <a:rPr lang="de-D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['</a:t>
            </a:r>
            <a:r>
              <a:rPr lang="de-DE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dog</a:t>
            </a:r>
            <a:r>
              <a:rPr lang="de-D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de-DE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door</a:t>
            </a:r>
            <a:r>
              <a:rPr lang="de-D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']</a:t>
            </a:r>
            <a:endParaRPr lang="de-DE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autocomplete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trie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"z"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  </a:t>
            </a:r>
            <a:r>
              <a:rPr lang="de-DE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[]</a:t>
            </a:r>
            <a:endParaRPr lang="de-DE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690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1986</TotalTime>
  <Words>1109</Words>
  <Application>Microsoft Office PowerPoint</Application>
  <PresentationFormat>Произвольный</PresentationFormat>
  <Paragraphs>144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Илья Паньковский</dc:creator>
  <cp:keywords/>
  <dc:description>generated using python-pptx</dc:description>
  <cp:lastModifiedBy>Илья Паньковский</cp:lastModifiedBy>
  <cp:revision>284</cp:revision>
  <dcterms:created xsi:type="dcterms:W3CDTF">2013-01-27T09:14:16Z</dcterms:created>
  <dcterms:modified xsi:type="dcterms:W3CDTF">2025-11-08T19:39:58Z</dcterms:modified>
  <cp:category/>
</cp:coreProperties>
</file>