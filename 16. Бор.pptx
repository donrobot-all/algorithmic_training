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4" r:id="rId4"/>
    <p:sldId id="305" r:id="rId5"/>
    <p:sldId id="298" r:id="rId6"/>
    <p:sldId id="306" r:id="rId7"/>
    <p:sldId id="307" r:id="rId8"/>
    <p:sldId id="308" r:id="rId9"/>
    <p:sldId id="309" r:id="rId10"/>
    <p:sldId id="311" r:id="rId11"/>
    <p:sldId id="310" r:id="rId1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89" d="100"/>
          <a:sy n="89" d="100"/>
        </p:scale>
        <p:origin x="1014" y="2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nd-subsequence-of-length-k-with-the-largest-sum/description/" TargetMode="External"/><Relationship Id="rId2" Type="http://schemas.openxmlformats.org/officeDocument/2006/relationships/hyperlink" Target="https://leetcode.com/problems/k-closest-points-to-origin/description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108234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Бор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11047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Бор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527585" y="1399724"/>
            <a:ext cx="106177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дерево, в котором каждая вершина обозначает какую-то строку. На ребрах между вершинами написана 1 буква, таким образом, добираясь по ребрам из корня в какую-нибудь вершину и </a:t>
            </a:r>
            <a:r>
              <a:rPr lang="ru-RU" sz="2800" dirty="0" err="1"/>
              <a:t>конкатерируя</a:t>
            </a:r>
            <a:r>
              <a:rPr lang="ru-RU" sz="2800" dirty="0"/>
              <a:t> буквы из ребер в порядке обхода, мы получим строку, соответствующую этой вершине. 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 rot="1025330">
            <a:off x="10678679" y="6009198"/>
            <a:ext cx="38189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структура данных для хранения набора слов по символам, как дерево, но каждый путь от корня до узла — это префикс какого-то слова.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399" y="231559"/>
            <a:ext cx="476598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Как использовать?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063322" y="1435402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Поиск слова в множестве строк</a:t>
            </a:r>
          </a:p>
          <a:p>
            <a:pPr algn="ctr"/>
            <a:endParaRPr lang="ru-RU" b="1" dirty="0"/>
          </a:p>
          <a:p>
            <a:pPr algn="ctr"/>
            <a:r>
              <a:rPr lang="ru-RU" dirty="0"/>
              <a:t>Например, есть список слов: ["</a:t>
            </a:r>
            <a:r>
              <a:rPr lang="ru-RU" dirty="0" err="1"/>
              <a:t>cat</a:t>
            </a:r>
            <a:r>
              <a:rPr lang="ru-RU" dirty="0"/>
              <a:t>", "</a:t>
            </a:r>
            <a:r>
              <a:rPr lang="ru-RU" dirty="0" err="1"/>
              <a:t>car</a:t>
            </a:r>
            <a:r>
              <a:rPr lang="ru-RU" dirty="0"/>
              <a:t>", "</a:t>
            </a:r>
            <a:r>
              <a:rPr lang="ru-RU" dirty="0" err="1"/>
              <a:t>cart</a:t>
            </a:r>
            <a:r>
              <a:rPr lang="ru-RU" dirty="0"/>
              <a:t>"].</a:t>
            </a:r>
          </a:p>
          <a:p>
            <a:pPr algn="ctr"/>
            <a:r>
              <a:rPr lang="ru-RU" dirty="0"/>
              <a:t>Вместо того чтобы проверять каждое слово по отдельности, можно пройтись по дереву префиксов и за один проход понять, есть ли слово в списке.</a:t>
            </a:r>
            <a:endParaRPr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1063322" y="4742400"/>
            <a:ext cx="529444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 err="1"/>
              <a:t>Автодополнение</a:t>
            </a:r>
            <a:endParaRPr lang="ru-RU" b="1" dirty="0"/>
          </a:p>
          <a:p>
            <a:pPr algn="ctr"/>
            <a:endParaRPr lang="ru-RU" b="1" dirty="0"/>
          </a:p>
          <a:p>
            <a:pPr algn="ctr"/>
            <a:r>
              <a:rPr lang="ru-RU" dirty="0"/>
              <a:t>Используется в поисковых системах и текстовых редакторах: по введённым первым буквам быстро находим все возможные варианты.</a:t>
            </a: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11F03-95B8-A14B-5DE7-28E444BEA41A}"/>
              </a:ext>
            </a:extLst>
          </p:cNvPr>
          <p:cNvSpPr txBox="1"/>
          <p:nvPr/>
        </p:nvSpPr>
        <p:spPr>
          <a:xfrm>
            <a:off x="7866486" y="1435402"/>
            <a:ext cx="47788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Поиск всех слов с общим префиксом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Например, найти все слова, которые начинаются с "</a:t>
            </a:r>
            <a:r>
              <a:rPr lang="ru-RU" dirty="0" err="1"/>
              <a:t>ca</a:t>
            </a:r>
            <a:r>
              <a:rPr lang="ru-RU" dirty="0"/>
              <a:t>".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7430654" y="4742400"/>
            <a:ext cx="565049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Алгоритм </a:t>
            </a:r>
            <a:r>
              <a:rPr lang="ru-RU" b="1" dirty="0" err="1"/>
              <a:t>Ахо-Корасик</a:t>
            </a:r>
            <a:endParaRPr lang="ru-RU" b="1" dirty="0"/>
          </a:p>
          <a:p>
            <a:pPr algn="ctr"/>
            <a:endParaRPr lang="ru-RU" b="1" dirty="0"/>
          </a:p>
          <a:p>
            <a:pPr algn="ctr"/>
            <a:r>
              <a:rPr lang="ru-RU" dirty="0"/>
              <a:t>Бор является базовой структурой для этого алгоритма. </a:t>
            </a:r>
            <a:r>
              <a:rPr lang="ru-RU" dirty="0" err="1"/>
              <a:t>Ахо-Корасик</a:t>
            </a:r>
            <a:r>
              <a:rPr lang="ru-RU" dirty="0"/>
              <a:t> позволяет искать множество шаблонов одновременно в тексте за время, пропорциональное длине текста плюс суммарной длине шаблонов.</a:t>
            </a:r>
          </a:p>
          <a:p>
            <a:pPr algn="ctr"/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68767" y="274320"/>
            <a:ext cx="424334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Где используется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A294-EF3A-D2B8-CA62-0581E4018453}"/>
              </a:ext>
            </a:extLst>
          </p:cNvPr>
          <p:cNvSpPr txBox="1"/>
          <p:nvPr/>
        </p:nvSpPr>
        <p:spPr>
          <a:xfrm>
            <a:off x="1188721" y="1877684"/>
            <a:ext cx="549365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Поисковые подсказки и автозаполнение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Google, Яндекс и другие поисковики предлагают варианты запросов по мере ввода.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Например, вводим "</a:t>
            </a:r>
            <a:r>
              <a:rPr lang="ru-RU" dirty="0" err="1">
                <a:solidFill>
                  <a:schemeClr val="bg1"/>
                </a:solidFill>
              </a:rPr>
              <a:t>progra</a:t>
            </a:r>
            <a:r>
              <a:rPr lang="ru-RU" dirty="0">
                <a:solidFill>
                  <a:schemeClr val="bg1"/>
                </a:solidFill>
              </a:rPr>
              <a:t>" → система быстро находит все слова, начинающиеся с "</a:t>
            </a:r>
            <a:r>
              <a:rPr lang="ru-RU" dirty="0" err="1">
                <a:solidFill>
                  <a:schemeClr val="bg1"/>
                </a:solidFill>
              </a:rPr>
              <a:t>progra</a:t>
            </a:r>
            <a:r>
              <a:rPr lang="ru-RU" dirty="0">
                <a:solidFill>
                  <a:schemeClr val="bg1"/>
                </a:solidFill>
              </a:rPr>
              <a:t>" (</a:t>
            </a:r>
            <a:r>
              <a:rPr lang="ru-RU" dirty="0" err="1">
                <a:solidFill>
                  <a:schemeClr val="bg1"/>
                </a:solidFill>
              </a:rPr>
              <a:t>program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ru-RU" dirty="0" err="1">
                <a:solidFill>
                  <a:schemeClr val="bg1"/>
                </a:solidFill>
              </a:rPr>
              <a:t>programming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ru-RU" dirty="0" err="1">
                <a:solidFill>
                  <a:schemeClr val="bg1"/>
                </a:solidFill>
              </a:rPr>
              <a:t>programmer</a:t>
            </a:r>
            <a:r>
              <a:rPr lang="ru-RU" dirty="0">
                <a:solidFill>
                  <a:schemeClr val="bg1"/>
                </a:solidFill>
              </a:rPr>
              <a:t> и т.д.).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127EC8-9339-08BD-B0C0-26A00CCC4968}"/>
              </a:ext>
            </a:extLst>
          </p:cNvPr>
          <p:cNvSpPr txBox="1"/>
          <p:nvPr/>
        </p:nvSpPr>
        <p:spPr>
          <a:xfrm>
            <a:off x="7503460" y="4963575"/>
            <a:ext cx="54936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Словари и проверка орфографии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Проверка правильности написания слов в текстовых редакторах.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Быстрый поиск, существует ли слово в словаре.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F411FC-14E5-1529-2494-082F910BE27F}"/>
              </a:ext>
            </a:extLst>
          </p:cNvPr>
          <p:cNvSpPr txBox="1"/>
          <p:nvPr/>
        </p:nvSpPr>
        <p:spPr>
          <a:xfrm>
            <a:off x="7401622" y="1932108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Фильтрация и поиск слов в больших текстах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 err="1">
                <a:solidFill>
                  <a:schemeClr val="bg1"/>
                </a:solidFill>
              </a:rPr>
              <a:t>Ахо-Корасик</a:t>
            </a:r>
            <a:r>
              <a:rPr lang="ru-RU" dirty="0">
                <a:solidFill>
                  <a:schemeClr val="bg1"/>
                </a:solidFill>
              </a:rPr>
              <a:t> (на базе Бора) позволяет одновременно искать множество слов в тексте, что удобно для: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Фильтрации запрещённых слов.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Поиска ключевых слов в документах или логах.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07273C-DB4B-AF3B-2694-597BD496B4C4}"/>
              </a:ext>
            </a:extLst>
          </p:cNvPr>
          <p:cNvSpPr txBox="1"/>
          <p:nvPr/>
        </p:nvSpPr>
        <p:spPr>
          <a:xfrm>
            <a:off x="1188721" y="4963541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Сжатие данных и индексация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Хранение больших словарей с общими префиксами экономит память.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Используется в текстовых редакторах, базах данных и поисковых движках.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2892" y="259882"/>
            <a:ext cx="411202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У нас есть слова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35451" y="462147"/>
            <a:ext cx="95949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800" dirty="0"/>
              <a:t>Cat</a:t>
            </a:r>
            <a:endParaRPr lang="ru-RU" sz="2800" dirty="0"/>
          </a:p>
          <a:p>
            <a:pPr algn="ctr"/>
            <a:r>
              <a:rPr lang="de-DE" sz="2800" dirty="0"/>
              <a:t>Car</a:t>
            </a:r>
            <a:endParaRPr lang="ru-RU" sz="2800" dirty="0"/>
          </a:p>
          <a:p>
            <a:pPr algn="ctr"/>
            <a:r>
              <a:rPr lang="de-DE" sz="2800" dirty="0"/>
              <a:t>Dog</a:t>
            </a:r>
            <a:endParaRPr lang="ru-RU"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4999F-E5E6-C42D-810D-363760847A89}"/>
              </a:ext>
            </a:extLst>
          </p:cNvPr>
          <p:cNvSpPr txBox="1"/>
          <p:nvPr/>
        </p:nvSpPr>
        <p:spPr>
          <a:xfrm>
            <a:off x="307281" y="2147551"/>
            <a:ext cx="946066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Мы начинаем с точки-начала (корня).</a:t>
            </a:r>
          </a:p>
          <a:p>
            <a:r>
              <a:rPr lang="ru-RU" sz="2800" dirty="0"/>
              <a:t>Дальше:</a:t>
            </a:r>
          </a:p>
          <a:p>
            <a:r>
              <a:rPr lang="ru-RU" sz="2800" dirty="0"/>
              <a:t>Чтобы записать «</a:t>
            </a:r>
            <a:r>
              <a:rPr lang="ru-RU" sz="2800" dirty="0" err="1"/>
              <a:t>cat</a:t>
            </a:r>
            <a:r>
              <a:rPr lang="ru-RU" sz="2800" dirty="0"/>
              <a:t>», мы идём: c → a → t, создавая эти вершины, если их ещё нет.</a:t>
            </a:r>
          </a:p>
          <a:p>
            <a:r>
              <a:rPr lang="ru-RU" sz="2800" dirty="0"/>
              <a:t>Чтобы записать «</a:t>
            </a:r>
            <a:r>
              <a:rPr lang="ru-RU" sz="2800" dirty="0" err="1"/>
              <a:t>car</a:t>
            </a:r>
            <a:r>
              <a:rPr lang="ru-RU" sz="2800" dirty="0"/>
              <a:t>», мы не строим заново c → a, они уже есть. Просто добавляем r вместо t на том же уровне.</a:t>
            </a:r>
          </a:p>
          <a:p>
            <a:r>
              <a:rPr lang="ru-RU" sz="2800" dirty="0"/>
              <a:t>Для «</a:t>
            </a:r>
            <a:r>
              <a:rPr lang="ru-RU" sz="2800" dirty="0" err="1"/>
              <a:t>dog</a:t>
            </a:r>
            <a:r>
              <a:rPr lang="ru-RU" sz="2800" dirty="0"/>
              <a:t>» — строим отдельную ветку d → o → g.</a:t>
            </a:r>
          </a:p>
          <a:p>
            <a:r>
              <a:rPr lang="ru-RU" sz="2800" dirty="0"/>
              <a:t>В итоге получается дерево, где:</a:t>
            </a:r>
          </a:p>
          <a:p>
            <a:r>
              <a:rPr lang="ru-RU" sz="2800" dirty="0"/>
              <a:t>Общие начала слов (префиксы) записаны один раз</a:t>
            </a:r>
          </a:p>
          <a:p>
            <a:r>
              <a:rPr lang="ru-RU" sz="2800" dirty="0"/>
              <a:t>Концы слов мы отмечаем специальным флагом «здесь слово заканчивается»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3276C-2FC6-2EFE-3B56-5EAF08D27658}"/>
              </a:ext>
            </a:extLst>
          </p:cNvPr>
          <p:cNvSpPr txBox="1"/>
          <p:nvPr/>
        </p:nvSpPr>
        <p:spPr>
          <a:xfrm>
            <a:off x="9558169" y="2795243"/>
            <a:ext cx="388351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 (корень)         </a:t>
            </a:r>
            <a:endParaRPr lang="ru-RU" sz="2800" dirty="0"/>
          </a:p>
          <a:p>
            <a:pPr algn="ctr"/>
            <a:r>
              <a:rPr lang="pt-BR" sz="2800" dirty="0"/>
              <a:t>/       \        </a:t>
            </a:r>
            <a:endParaRPr lang="ru-RU" sz="2800" dirty="0"/>
          </a:p>
          <a:p>
            <a:pPr algn="ctr"/>
            <a:r>
              <a:rPr lang="pt-BR" sz="2800" dirty="0"/>
              <a:t>c         d       </a:t>
            </a:r>
            <a:endParaRPr lang="ru-RU" sz="2800" dirty="0"/>
          </a:p>
          <a:p>
            <a:pPr algn="ctr"/>
            <a:r>
              <a:rPr lang="pt-BR" sz="2800" dirty="0"/>
              <a:t>/           \      </a:t>
            </a:r>
            <a:endParaRPr lang="ru-RU" sz="2800" dirty="0"/>
          </a:p>
          <a:p>
            <a:pPr algn="ctr"/>
            <a:r>
              <a:rPr lang="pt-BR" sz="2800" dirty="0"/>
              <a:t>a             o     </a:t>
            </a:r>
            <a:endParaRPr lang="ru-RU" sz="2800" dirty="0"/>
          </a:p>
          <a:p>
            <a:pPr algn="ctr"/>
            <a:r>
              <a:rPr lang="pt-BR" sz="2800" dirty="0"/>
              <a:t>/ \             \    </a:t>
            </a:r>
            <a:endParaRPr lang="ru-RU" sz="2800" dirty="0"/>
          </a:p>
          <a:p>
            <a:pPr algn="ctr"/>
            <a:r>
              <a:rPr lang="pt-BR" sz="2800" dirty="0"/>
              <a:t>t   r             g    </a:t>
            </a:r>
            <a:endParaRPr lang="ru-RU" sz="2800" dirty="0"/>
          </a:p>
          <a:p>
            <a:pPr algn="ctr"/>
            <a:r>
              <a:rPr lang="pt-BR" sz="2800" dirty="0"/>
              <a:t>*   *             *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386913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Другой пример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1296296" y="1324735"/>
            <a:ext cx="1159674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Строить бор будем последовательным добавление исходных строк. Изначально у нас есть 1 вершина, корень (</a:t>
            </a:r>
            <a:r>
              <a:rPr lang="ru-RU" dirty="0" err="1">
                <a:solidFill>
                  <a:schemeClr val="bg1"/>
                </a:solidFill>
              </a:rPr>
              <a:t>root</a:t>
            </a:r>
            <a:r>
              <a:rPr lang="ru-RU" dirty="0">
                <a:solidFill>
                  <a:schemeClr val="bg1"/>
                </a:solidFill>
              </a:rPr>
              <a:t>) — пустая строка. Добавление строки происходит так: начиная в корне, двигаемся по нашему дереве, выбирая каждый раз ребро, соответствующее очередной букве строки. Если такого ребра нет, то мы создаем его вместе с вершиной. Вот пример построенного бора для строк: 1)</a:t>
            </a:r>
            <a:r>
              <a:rPr lang="ru-RU" dirty="0" err="1">
                <a:solidFill>
                  <a:schemeClr val="bg1"/>
                </a:solidFill>
              </a:rPr>
              <a:t>acab</a:t>
            </a:r>
            <a:r>
              <a:rPr lang="ru-RU" dirty="0">
                <a:solidFill>
                  <a:schemeClr val="bg1"/>
                </a:solidFill>
              </a:rPr>
              <a:t>, 2)</a:t>
            </a:r>
            <a:r>
              <a:rPr lang="ru-RU" dirty="0" err="1">
                <a:solidFill>
                  <a:schemeClr val="bg1"/>
                </a:solidFill>
              </a:rPr>
              <a:t>accc</a:t>
            </a:r>
            <a:r>
              <a:rPr lang="ru-RU" dirty="0">
                <a:solidFill>
                  <a:schemeClr val="bg1"/>
                </a:solidFill>
              </a:rPr>
              <a:t>, 3)</a:t>
            </a:r>
            <a:r>
              <a:rPr lang="ru-RU" dirty="0" err="1">
                <a:solidFill>
                  <a:schemeClr val="bg1"/>
                </a:solidFill>
              </a:rPr>
              <a:t>acac</a:t>
            </a:r>
            <a:r>
              <a:rPr lang="ru-RU" dirty="0">
                <a:solidFill>
                  <a:schemeClr val="bg1"/>
                </a:solidFill>
              </a:rPr>
              <a:t>, 4)</a:t>
            </a:r>
            <a:r>
              <a:rPr lang="ru-RU" dirty="0" err="1">
                <a:solidFill>
                  <a:schemeClr val="bg1"/>
                </a:solidFill>
              </a:rPr>
              <a:t>baca</a:t>
            </a:r>
            <a:r>
              <a:rPr lang="ru-RU" dirty="0">
                <a:solidFill>
                  <a:schemeClr val="bg1"/>
                </a:solidFill>
              </a:rPr>
              <a:t>, 5)</a:t>
            </a:r>
            <a:r>
              <a:rPr lang="ru-RU" dirty="0" err="1">
                <a:solidFill>
                  <a:schemeClr val="bg1"/>
                </a:solidFill>
              </a:rPr>
              <a:t>abb</a:t>
            </a:r>
            <a:r>
              <a:rPr lang="ru-RU" dirty="0">
                <a:solidFill>
                  <a:schemeClr val="bg1"/>
                </a:solidFill>
              </a:rPr>
              <a:t>, 6)z, 7)</a:t>
            </a:r>
            <a:r>
              <a:rPr lang="ru-RU" dirty="0" err="1">
                <a:solidFill>
                  <a:schemeClr val="bg1"/>
                </a:solidFill>
              </a:rPr>
              <a:t>ac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Обратите внимание на добавление строки 7. Она не создает новых вершин и ребер, а процесс ее добавления останавливается во внутренней вершине. Отсюда видно, что для каждой строки необходимо дополнительно хранить признак того является она строкой из условия или нет (красные круги).</a:t>
            </a:r>
          </a:p>
        </p:txBody>
      </p:sp>
      <p:pic>
        <p:nvPicPr>
          <p:cNvPr id="7" name="Рисунок 6" descr="Изображение выглядит как круг, линия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C3A1C3FB-F754-7FEE-0A3E-DAC2886DA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283" y="2677365"/>
            <a:ext cx="3705225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41312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Крайний случай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63793" y="1337817"/>
            <a:ext cx="1269526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Отметим также что, две строки в боре имеют общие ребра при условии наличия у них общего префикса. Крайний случай — все строки образцы попарно не имеют одинаковой начальной части. Значит верхняя оценка для числа вершин в боре — сумма длин всех строк + 1(корень). 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92767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Бор на словаре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469332"/>
            <a:ext cx="1266712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Каждая вершина — это словарь вида:</a:t>
            </a:r>
          </a:p>
          <a:p>
            <a:r>
              <a:rPr lang="ru-RU" sz="2800" dirty="0">
                <a:solidFill>
                  <a:schemeClr val="bg1"/>
                </a:solidFill>
              </a:rPr>
              <a:t>{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'c': {...},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'd': {...},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'#': True    ← означает конец слова</a:t>
            </a:r>
          </a:p>
          <a:p>
            <a:r>
              <a:rPr lang="ru-RU" sz="28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09530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Структура и данные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461532" y="1698754"/>
            <a:ext cx="12684313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Входные данные</a:t>
            </a:r>
          </a:p>
          <a:p>
            <a:r>
              <a:rPr lang="ru-RU" sz="2800" dirty="0"/>
              <a:t>Набор слов.</a:t>
            </a:r>
          </a:p>
          <a:p>
            <a:r>
              <a:rPr lang="ru-RU" sz="2800" dirty="0"/>
              <a:t>Префикс, по которому хотим найти подходящие слова.</a:t>
            </a:r>
          </a:p>
          <a:p>
            <a:endParaRPr lang="ru-RU" sz="2800" dirty="0"/>
          </a:p>
          <a:p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Структура данных</a:t>
            </a:r>
          </a:p>
          <a:p>
            <a:r>
              <a:rPr lang="ru-RU" sz="2800" dirty="0"/>
              <a:t>Бор представляем как вложенные словари:</a:t>
            </a:r>
          </a:p>
          <a:p>
            <a:r>
              <a:rPr lang="ru-RU" sz="2800" dirty="0"/>
              <a:t>Каждый ключ — буква.</a:t>
            </a:r>
          </a:p>
          <a:p>
            <a:r>
              <a:rPr lang="ru-RU" sz="2800" dirty="0"/>
              <a:t>Значение — следующий словарь.</a:t>
            </a:r>
          </a:p>
          <a:p>
            <a:r>
              <a:rPr lang="ru-RU" sz="2800" dirty="0"/>
              <a:t>Специальный ключ '#' означает, что на этом месте заканчивается какое-то слово.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57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Алгоритм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312868" y="814556"/>
            <a:ext cx="1400466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1. Построить Бор по словарю слов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Для каждого слова: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Начинаем с корня (пустого словаря).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Берём слово по буквам слева направо.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текущая буква уже есть в словаре — переходим в этот вложенный словарь.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буквы нет — создаём новый пустой словарь и переходим в него.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Когда буквы слова закончились — добавляем ключ '#', означающий конец слова.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После обработки всех слов получается дерево, где общие начала слов записаны один раз.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2. Найти вершину, соответствующую префиксу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Начинаем с корня.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Берём префикс по буквам.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буква есть в словаре — идём в соответствующий вложенный словарь.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буквы нет — значит нет ни одного слова с таким префиксом, ответ пустой.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дошли до конца префикса — мы стоим в вершине, с которой начинаются нужные слова.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3. Собрать все слова, которые начинаются с этого префикса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Запускаем глубинный обход (DFS) от найденной вершины: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в текущем узле есть ключ '#' — то текущее собранное слово добавляем в список результатов.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Для каждой буквы (кроме '#') рекурсивно запускаем обход дальше, добавляя эту букву к формируемому слову.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Когда обход поддерева завершён, у нас есть все слова, начинающиеся с нужного префикса.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198120" y="0"/>
            <a:ext cx="53753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>
                <a:solidFill>
                  <a:schemeClr val="bg1"/>
                </a:solidFill>
              </a:rPr>
              <a:t>Начнём</a:t>
            </a: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F263BED0-B41B-C765-CA45-6041AB99CB35}"/>
              </a:ext>
            </a:extLst>
          </p:cNvPr>
          <p:cNvSpPr txBox="1"/>
          <p:nvPr/>
        </p:nvSpPr>
        <p:spPr>
          <a:xfrm>
            <a:off x="714689" y="6993136"/>
            <a:ext cx="18241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2"/>
              </a:rPr>
              <a:t>Задача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TextBox 10">
            <a:hlinkClick r:id="rId2"/>
            <a:extLst>
              <a:ext uri="{FF2B5EF4-FFF2-40B4-BE49-F238E27FC236}">
                <a16:creationId xmlns:a16="http://schemas.microsoft.com/office/drawing/2014/main" id="{046A49C2-31E6-C044-C15E-B232F07959B3}"/>
              </a:ext>
            </a:extLst>
          </p:cNvPr>
          <p:cNvSpPr txBox="1"/>
          <p:nvPr/>
        </p:nvSpPr>
        <p:spPr>
          <a:xfrm>
            <a:off x="3653319" y="6993136"/>
            <a:ext cx="18241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Задача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19FAB-2D7B-C4DE-B61C-C20A4FEB418A}"/>
              </a:ext>
            </a:extLst>
          </p:cNvPr>
          <p:cNvSpPr txBox="1"/>
          <p:nvPr/>
        </p:nvSpPr>
        <p:spPr>
          <a:xfrm>
            <a:off x="5573485" y="437495"/>
            <a:ext cx="9886277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Построение бора (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build_trie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Поиск узла, соответствующего префиксу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find_prefix_node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DFS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для сбора всех слов из вершины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собранное слово на данный момент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collect_words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Главная функция </a:t>
            </a:r>
            <a:r>
              <a:rPr lang="ru-RU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автодополнения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cartoon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carbon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build_trie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cartoon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carbon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"do"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"z"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 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1986</TotalTime>
  <Words>1110</Words>
  <Application>Microsoft Office PowerPoint</Application>
  <PresentationFormat>Произвольный</PresentationFormat>
  <Paragraphs>145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283</cp:revision>
  <dcterms:created xsi:type="dcterms:W3CDTF">2013-01-27T09:14:16Z</dcterms:created>
  <dcterms:modified xsi:type="dcterms:W3CDTF">2025-11-08T19:33:42Z</dcterms:modified>
  <cp:category/>
</cp:coreProperties>
</file>