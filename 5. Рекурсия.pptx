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84" r:id="rId4"/>
    <p:sldId id="285" r:id="rId5"/>
    <p:sldId id="286" r:id="rId6"/>
    <p:sldId id="287" r:id="rId7"/>
    <p:sldId id="288" r:id="rId8"/>
    <p:sldId id="289" r:id="rId9"/>
    <p:sldId id="295" r:id="rId10"/>
    <p:sldId id="296" r:id="rId11"/>
    <p:sldId id="297" r:id="rId12"/>
    <p:sldId id="298" r:id="rId13"/>
    <p:sldId id="299" r:id="rId14"/>
    <p:sldId id="290" r:id="rId15"/>
    <p:sldId id="291" r:id="rId16"/>
    <p:sldId id="292" r:id="rId17"/>
    <p:sldId id="293" r:id="rId18"/>
    <p:sldId id="294" r:id="rId19"/>
    <p:sldId id="300" r:id="rId20"/>
    <p:sldId id="277" r:id="rId21"/>
    <p:sldId id="275" r:id="rId22"/>
    <p:sldId id="278" r:id="rId23"/>
    <p:sldId id="282" r:id="rId24"/>
    <p:sldId id="276" r:id="rId25"/>
    <p:sldId id="279" r:id="rId26"/>
    <p:sldId id="261" r:id="rId27"/>
    <p:sldId id="280" r:id="rId28"/>
    <p:sldId id="281" r:id="rId29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762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fibonacci-number/description/?utm_source=chatgpt.com" TargetMode="External"/><Relationship Id="rId2" Type="http://schemas.openxmlformats.org/officeDocument/2006/relationships/hyperlink" Target="https://wordwall.net/ru/resource/23039884/%D0%BB%D0%BE%D0%B3%D0%B0%D1%80%D0%B8%D1%84%D0%BC%D1%8B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leetcode.com/problems/power-of-two/description/" TargetMode="External"/><Relationship Id="rId4" Type="http://schemas.openxmlformats.org/officeDocument/2006/relationships/hyperlink" Target="https://leetcode.com/problems/reverse-string/description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fibonacci-number/description/?envType=problem-list-v2&amp;envId=recursion" TargetMode="External"/><Relationship Id="rId2" Type="http://schemas.openxmlformats.org/officeDocument/2006/relationships/hyperlink" Target="https://wordwall.net/ru/resource/23039884/%D0%BB%D0%BE%D0%B3%D0%B0%D1%80%D0%B8%D1%84%D0%BC%D1%8B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2949846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4400" dirty="0">
                <a:solidFill>
                  <a:schemeClr val="bg1"/>
                </a:solidFill>
              </a:rPr>
              <a:t>«Рекурсия»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675594" y="157316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/>
              <a:t>Воображаем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731F4F9-D06C-0833-A17F-1170BF26242F}"/>
              </a:ext>
            </a:extLst>
          </p:cNvPr>
          <p:cNvSpPr txBox="1"/>
          <p:nvPr/>
        </p:nvSpPr>
        <p:spPr>
          <a:xfrm>
            <a:off x="804183" y="1104432"/>
            <a:ext cx="1154021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Допустим, вы разбираете чулан своей бабушки и натыкаетесь </a:t>
            </a:r>
            <a:r>
              <a:rPr lang="ru-RU" sz="2800" dirty="0" err="1"/>
              <a:t>назагадочный</a:t>
            </a:r>
            <a:r>
              <a:rPr lang="ru-RU" sz="2800" dirty="0"/>
              <a:t> запертый чемодан. Бабушка говорит, что ключ к чемодану, скорее всего, лежит в коробке. В коробке лежат другие коробки, а в них лежат маленькие коробочки.</a:t>
            </a:r>
          </a:p>
          <a:p>
            <a:pPr algn="ctr"/>
            <a:r>
              <a:rPr lang="ru-RU" sz="2800" dirty="0"/>
              <a:t>Ключ находится где-то там. Какой алгоритм мы сможем использовать?</a:t>
            </a:r>
          </a:p>
        </p:txBody>
      </p:sp>
      <p:pic>
        <p:nvPicPr>
          <p:cNvPr id="7" name="Рисунок 6" descr="Изображение выглядит как зарисовка, рисунок, Штриховая графика, искусство&#10;&#10;Автоматически созданное описание">
            <a:extLst>
              <a:ext uri="{FF2B5EF4-FFF2-40B4-BE49-F238E27FC236}">
                <a16:creationId xmlns:a16="http://schemas.microsoft.com/office/drawing/2014/main" id="{CDB54F82-08E1-2533-58B6-CC5F1B9D6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6989" y="3284779"/>
            <a:ext cx="7076634" cy="4487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5021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Рисунок 6" descr="Изображение выглядит как текст, зарисовка, Шрифт, рукописный текст&#10;&#10;Автоматически созданное описание">
            <a:extLst>
              <a:ext uri="{FF2B5EF4-FFF2-40B4-BE49-F238E27FC236}">
                <a16:creationId xmlns:a16="http://schemas.microsoft.com/office/drawing/2014/main" id="{21F7CA21-9DD7-7CFE-151C-DB093A3A1E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085" y="1032884"/>
            <a:ext cx="6346371" cy="652659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A9E5176-4FCC-3CEE-620D-C46EF1EB7AB2}"/>
              </a:ext>
            </a:extLst>
          </p:cNvPr>
          <p:cNvSpPr txBox="1"/>
          <p:nvPr/>
        </p:nvSpPr>
        <p:spPr>
          <a:xfrm>
            <a:off x="675594" y="198683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Алгоритм № 1</a:t>
            </a:r>
          </a:p>
        </p:txBody>
      </p:sp>
    </p:spTree>
    <p:extLst>
      <p:ext uri="{BB962C8B-B14F-4D97-AF65-F5344CB8AC3E}">
        <p14:creationId xmlns:p14="http://schemas.microsoft.com/office/powerpoint/2010/main" val="2205447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675594" y="157316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/>
              <a:t>Алгоритм № 2</a:t>
            </a:r>
          </a:p>
        </p:txBody>
      </p:sp>
      <p:pic>
        <p:nvPicPr>
          <p:cNvPr id="10" name="Рисунок 9" descr="Изображение выглядит как текст, зарисовка, Шрифт, рукописный текст&#10;&#10;Автоматически созданное описание">
            <a:extLst>
              <a:ext uri="{FF2B5EF4-FFF2-40B4-BE49-F238E27FC236}">
                <a16:creationId xmlns:a16="http://schemas.microsoft.com/office/drawing/2014/main" id="{A9709302-7776-BBB4-94DB-8EE5518B7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9446" y="1754431"/>
            <a:ext cx="7498661" cy="4668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86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E5176-4FCC-3CEE-620D-C46EF1EB7AB2}"/>
              </a:ext>
            </a:extLst>
          </p:cNvPr>
          <p:cNvSpPr txBox="1"/>
          <p:nvPr/>
        </p:nvSpPr>
        <p:spPr>
          <a:xfrm>
            <a:off x="675594" y="198683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Сверим два алгоритма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F67CE7-B0D1-55E6-BE68-A07102B3CB04}"/>
              </a:ext>
            </a:extLst>
          </p:cNvPr>
          <p:cNvSpPr txBox="1"/>
          <p:nvPr/>
        </p:nvSpPr>
        <p:spPr>
          <a:xfrm>
            <a:off x="163287" y="1837959"/>
            <a:ext cx="6302827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1. Сложить все коробки в кучу.</a:t>
            </a:r>
          </a:p>
          <a:p>
            <a:r>
              <a:rPr lang="ru-RU" sz="2800" dirty="0">
                <a:solidFill>
                  <a:schemeClr val="bg1"/>
                </a:solidFill>
              </a:rPr>
              <a:t>2. Взять коробку и открыть.</a:t>
            </a:r>
          </a:p>
          <a:p>
            <a:r>
              <a:rPr lang="ru-RU" sz="2800" dirty="0">
                <a:solidFill>
                  <a:schemeClr val="bg1"/>
                </a:solidFill>
              </a:rPr>
              <a:t>3. Если внутри лежит коробка, добавить ее в кучу для последующего поиска.</a:t>
            </a:r>
          </a:p>
          <a:p>
            <a:r>
              <a:rPr lang="ru-RU" sz="2800" dirty="0">
                <a:solidFill>
                  <a:schemeClr val="bg1"/>
                </a:solidFill>
              </a:rPr>
              <a:t>4. Если внутри лежит ключ, поиск закончен!</a:t>
            </a:r>
          </a:p>
          <a:p>
            <a:r>
              <a:rPr lang="ru-RU" sz="2800" dirty="0">
                <a:solidFill>
                  <a:schemeClr val="bg1"/>
                </a:solidFill>
              </a:rPr>
              <a:t>5. Повторить.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9C2EC6-1376-B273-94E7-43BB68862890}"/>
              </a:ext>
            </a:extLst>
          </p:cNvPr>
          <p:cNvSpPr txBox="1"/>
          <p:nvPr/>
        </p:nvSpPr>
        <p:spPr>
          <a:xfrm>
            <a:off x="6966856" y="1837959"/>
            <a:ext cx="750025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1. Просмотреть содержимое коробки.</a:t>
            </a:r>
          </a:p>
          <a:p>
            <a:r>
              <a:rPr lang="ru-RU" sz="2800" dirty="0">
                <a:solidFill>
                  <a:schemeClr val="bg1"/>
                </a:solidFill>
              </a:rPr>
              <a:t>2. Если вы найдете коробку, вернуться к шагу 1.</a:t>
            </a:r>
          </a:p>
          <a:p>
            <a:r>
              <a:rPr lang="ru-RU" sz="2800" dirty="0">
                <a:solidFill>
                  <a:schemeClr val="bg1"/>
                </a:solidFill>
              </a:rPr>
              <a:t>3. Если вы найдете ключ, поиск закончен!</a:t>
            </a:r>
          </a:p>
        </p:txBody>
      </p:sp>
    </p:spTree>
    <p:extLst>
      <p:ext uri="{BB962C8B-B14F-4D97-AF65-F5344CB8AC3E}">
        <p14:creationId xmlns:p14="http://schemas.microsoft.com/office/powerpoint/2010/main" val="13976985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675594" y="157316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/>
              <a:t>Псевдокод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1A7286-C01A-1E42-C40D-23F10E59001E}"/>
              </a:ext>
            </a:extLst>
          </p:cNvPr>
          <p:cNvSpPr txBox="1"/>
          <p:nvPr/>
        </p:nvSpPr>
        <p:spPr>
          <a:xfrm>
            <a:off x="587830" y="1071249"/>
            <a:ext cx="1175657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/>
              <a:t>Первое решение можно построить на цикле </a:t>
            </a:r>
            <a:r>
              <a:rPr lang="ru-RU" sz="2800" dirty="0" err="1"/>
              <a:t>while</a:t>
            </a:r>
            <a:r>
              <a:rPr lang="ru-RU" sz="2800" dirty="0"/>
              <a:t>. Пока куча коробок не пуста, взять очередную коробку и проверить ее содержимое: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6318BF-29BA-F1B6-37F7-B247C7A8991A}"/>
              </a:ext>
            </a:extLst>
          </p:cNvPr>
          <p:cNvSpPr txBox="1"/>
          <p:nvPr/>
        </p:nvSpPr>
        <p:spPr>
          <a:xfrm>
            <a:off x="2595155" y="2025356"/>
            <a:ext cx="1175657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r>
              <a:rPr lang="en-US" sz="2800" dirty="0"/>
              <a:t>def </a:t>
            </a:r>
            <a:r>
              <a:rPr lang="en-US" sz="2800" dirty="0" err="1"/>
              <a:t>look_for_key</a:t>
            </a:r>
            <a:r>
              <a:rPr lang="en-US" sz="2800" dirty="0"/>
              <a:t>(</a:t>
            </a:r>
            <a:r>
              <a:rPr lang="en-US" sz="2800" dirty="0" err="1"/>
              <a:t>main_box</a:t>
            </a:r>
            <a:r>
              <a:rPr lang="en-US" sz="2800" dirty="0"/>
              <a:t>):</a:t>
            </a:r>
          </a:p>
          <a:p>
            <a:pPr lvl="3"/>
            <a:r>
              <a:rPr lang="en-US" sz="2800" dirty="0"/>
              <a:t>pile = </a:t>
            </a:r>
            <a:r>
              <a:rPr lang="en-US" sz="2800" dirty="0" err="1"/>
              <a:t>main_box.make_a_pile_to_look_through</a:t>
            </a:r>
            <a:r>
              <a:rPr lang="en-US" sz="2800" dirty="0"/>
              <a:t>()</a:t>
            </a:r>
          </a:p>
          <a:p>
            <a:pPr lvl="3"/>
            <a:r>
              <a:rPr lang="en-US" sz="2800" dirty="0"/>
              <a:t>while pile is not empty:</a:t>
            </a:r>
          </a:p>
          <a:p>
            <a:pPr lvl="4"/>
            <a:r>
              <a:rPr lang="en-US" sz="2800" dirty="0"/>
              <a:t>box = </a:t>
            </a:r>
            <a:r>
              <a:rPr lang="en-US" sz="2800" dirty="0" err="1"/>
              <a:t>pile.grab_a_box</a:t>
            </a:r>
            <a:r>
              <a:rPr lang="en-US" sz="2800" dirty="0"/>
              <a:t>()</a:t>
            </a:r>
          </a:p>
          <a:p>
            <a:pPr lvl="4"/>
            <a:r>
              <a:rPr lang="en-US" sz="2800" dirty="0"/>
              <a:t>for item in box:</a:t>
            </a:r>
          </a:p>
          <a:p>
            <a:pPr lvl="5"/>
            <a:r>
              <a:rPr lang="en-US" sz="2800" dirty="0"/>
              <a:t>if </a:t>
            </a:r>
            <a:r>
              <a:rPr lang="en-US" sz="2800" dirty="0" err="1"/>
              <a:t>item.is_a_box</a:t>
            </a:r>
            <a:r>
              <a:rPr lang="en-US" sz="2800" dirty="0"/>
              <a:t>():</a:t>
            </a:r>
          </a:p>
          <a:p>
            <a:pPr lvl="5"/>
            <a:r>
              <a:rPr lang="ru-RU" sz="2800" dirty="0"/>
              <a:t>	</a:t>
            </a:r>
            <a:r>
              <a:rPr lang="en-US" sz="2800" dirty="0" err="1"/>
              <a:t>pile.append</a:t>
            </a:r>
            <a:r>
              <a:rPr lang="en-US" sz="2800" dirty="0"/>
              <a:t>(item)</a:t>
            </a:r>
          </a:p>
          <a:p>
            <a:pPr lvl="5"/>
            <a:r>
              <a:rPr lang="en-US" sz="2800" dirty="0" err="1"/>
              <a:t>elif</a:t>
            </a:r>
            <a:r>
              <a:rPr lang="en-US" sz="2800" dirty="0"/>
              <a:t> </a:t>
            </a:r>
            <a:r>
              <a:rPr lang="en-US" sz="2800" dirty="0" err="1"/>
              <a:t>item.is_a_key</a:t>
            </a:r>
            <a:r>
              <a:rPr lang="en-US" sz="2800" dirty="0"/>
              <a:t>():</a:t>
            </a:r>
          </a:p>
          <a:p>
            <a:pPr lvl="5"/>
            <a:r>
              <a:rPr lang="ru-RU" sz="2800" dirty="0"/>
              <a:t>	</a:t>
            </a:r>
            <a:r>
              <a:rPr lang="en-US" sz="2800" dirty="0"/>
              <a:t>print "found the key!"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710447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E5176-4FCC-3CEE-620D-C46EF1EB7AB2}"/>
              </a:ext>
            </a:extLst>
          </p:cNvPr>
          <p:cNvSpPr txBox="1"/>
          <p:nvPr/>
        </p:nvSpPr>
        <p:spPr>
          <a:xfrm>
            <a:off x="675594" y="198683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Псевдокод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F67CE7-B0D1-55E6-BE68-A07102B3CB04}"/>
              </a:ext>
            </a:extLst>
          </p:cNvPr>
          <p:cNvSpPr txBox="1"/>
          <p:nvPr/>
        </p:nvSpPr>
        <p:spPr>
          <a:xfrm>
            <a:off x="163287" y="1261017"/>
            <a:ext cx="119198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Второй способ основан на рекурсии. Рекурсией называется вызов функцией</a:t>
            </a:r>
          </a:p>
          <a:p>
            <a:r>
              <a:rPr lang="ru-RU" sz="2800" dirty="0">
                <a:solidFill>
                  <a:schemeClr val="bg1"/>
                </a:solidFill>
              </a:rPr>
              <a:t>самой себя. Второе решение на может выглядеть так: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AC0CEA-77DB-7424-EA55-C0D132AC3448}"/>
              </a:ext>
            </a:extLst>
          </p:cNvPr>
          <p:cNvSpPr txBox="1"/>
          <p:nvPr/>
        </p:nvSpPr>
        <p:spPr>
          <a:xfrm>
            <a:off x="3657601" y="2215124"/>
            <a:ext cx="1191985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def </a:t>
            </a:r>
            <a:r>
              <a:rPr lang="en-US" sz="2800" dirty="0" err="1">
                <a:solidFill>
                  <a:schemeClr val="bg1"/>
                </a:solidFill>
              </a:rPr>
              <a:t>look_for_key</a:t>
            </a:r>
            <a:r>
              <a:rPr lang="en-US" sz="2800" dirty="0">
                <a:solidFill>
                  <a:schemeClr val="bg1"/>
                </a:solidFill>
              </a:rPr>
              <a:t>(box):</a:t>
            </a:r>
          </a:p>
          <a:p>
            <a:pPr lvl="1"/>
            <a:r>
              <a:rPr lang="en-US" sz="2800" dirty="0">
                <a:solidFill>
                  <a:schemeClr val="bg1"/>
                </a:solidFill>
              </a:rPr>
              <a:t>for item in box:</a:t>
            </a:r>
          </a:p>
          <a:p>
            <a:pPr lvl="1"/>
            <a:r>
              <a:rPr lang="en-US" sz="2800" dirty="0">
                <a:solidFill>
                  <a:schemeClr val="bg1"/>
                </a:solidFill>
              </a:rPr>
              <a:t>if </a:t>
            </a:r>
            <a:r>
              <a:rPr lang="en-US" sz="2800" dirty="0" err="1">
                <a:solidFill>
                  <a:schemeClr val="bg1"/>
                </a:solidFill>
              </a:rPr>
              <a:t>item.is_a_box</a:t>
            </a:r>
            <a:r>
              <a:rPr lang="en-US" sz="2800" dirty="0">
                <a:solidFill>
                  <a:schemeClr val="bg1"/>
                </a:solidFill>
              </a:rPr>
              <a:t>():</a:t>
            </a:r>
          </a:p>
          <a:p>
            <a:pPr lvl="1"/>
            <a:r>
              <a:rPr lang="ru-RU" sz="2800" dirty="0">
                <a:solidFill>
                  <a:schemeClr val="bg1"/>
                </a:solidFill>
              </a:rPr>
              <a:t>	</a:t>
            </a:r>
            <a:r>
              <a:rPr lang="en-US" sz="2800" dirty="0" err="1">
                <a:solidFill>
                  <a:schemeClr val="bg1"/>
                </a:solidFill>
              </a:rPr>
              <a:t>look_for_key</a:t>
            </a:r>
            <a:r>
              <a:rPr lang="en-US" sz="2800" dirty="0">
                <a:solidFill>
                  <a:schemeClr val="bg1"/>
                </a:solidFill>
              </a:rPr>
              <a:t>(item) </a:t>
            </a:r>
            <a:r>
              <a:rPr lang="ru-RU" sz="2800" dirty="0">
                <a:solidFill>
                  <a:schemeClr val="bg1"/>
                </a:solidFill>
              </a:rPr>
              <a:t>   </a:t>
            </a:r>
            <a:r>
              <a:rPr lang="en-US" sz="2800" dirty="0">
                <a:solidFill>
                  <a:schemeClr val="bg1"/>
                </a:solidFill>
                <a:sym typeface="Wingdings" panose="05000000000000000000" pitchFamily="2" charset="2"/>
              </a:rPr>
              <a:t>------------  </a:t>
            </a:r>
            <a:r>
              <a:rPr lang="en-US" sz="2800" dirty="0" err="1">
                <a:solidFill>
                  <a:schemeClr val="bg1"/>
                </a:solidFill>
              </a:rPr>
              <a:t>Рекурсия</a:t>
            </a:r>
            <a:r>
              <a:rPr lang="en-US" sz="2800" dirty="0">
                <a:solidFill>
                  <a:schemeClr val="bg1"/>
                </a:solidFill>
              </a:rPr>
              <a:t>!</a:t>
            </a:r>
          </a:p>
          <a:p>
            <a:pPr lvl="1"/>
            <a:r>
              <a:rPr lang="en-US" sz="2800" dirty="0" err="1">
                <a:solidFill>
                  <a:schemeClr val="bg1"/>
                </a:solidFill>
              </a:rPr>
              <a:t>elif</a:t>
            </a:r>
            <a:r>
              <a:rPr lang="en-US" sz="2800" dirty="0">
                <a:solidFill>
                  <a:schemeClr val="bg1"/>
                </a:solidFill>
              </a:rPr>
              <a:t> </a:t>
            </a:r>
            <a:r>
              <a:rPr lang="en-US" sz="2800" dirty="0" err="1">
                <a:solidFill>
                  <a:schemeClr val="bg1"/>
                </a:solidFill>
              </a:rPr>
              <a:t>item.is_a_key</a:t>
            </a:r>
            <a:r>
              <a:rPr lang="en-US" sz="2800" dirty="0">
                <a:solidFill>
                  <a:schemeClr val="bg1"/>
                </a:solidFill>
              </a:rPr>
              <a:t>():</a:t>
            </a:r>
          </a:p>
          <a:p>
            <a:pPr lvl="1"/>
            <a:r>
              <a:rPr lang="ru-RU" sz="2800" dirty="0">
                <a:solidFill>
                  <a:schemeClr val="bg1"/>
                </a:solidFill>
              </a:rPr>
              <a:t>	</a:t>
            </a:r>
            <a:r>
              <a:rPr lang="en-US" sz="2800" dirty="0">
                <a:solidFill>
                  <a:schemeClr val="bg1"/>
                </a:solidFill>
              </a:rPr>
              <a:t>print "found the key!"</a:t>
            </a:r>
            <a:endParaRPr lang="ru-RU" sz="28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E767FD-0E40-6EB0-9EAA-3F9BA6239913}"/>
              </a:ext>
            </a:extLst>
          </p:cNvPr>
          <p:cNvSpPr txBox="1"/>
          <p:nvPr/>
        </p:nvSpPr>
        <p:spPr>
          <a:xfrm>
            <a:off x="11168743" y="5747679"/>
            <a:ext cx="314597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i="1" dirty="0">
                <a:solidFill>
                  <a:schemeClr val="bg1"/>
                </a:solidFill>
              </a:rPr>
              <a:t>Циклы могут ускорить работу</a:t>
            </a:r>
            <a:r>
              <a:rPr lang="en-US" i="1" dirty="0">
                <a:solidFill>
                  <a:schemeClr val="bg1"/>
                </a:solidFill>
              </a:rPr>
              <a:t> </a:t>
            </a:r>
            <a:r>
              <a:rPr lang="ru-RU" i="1" dirty="0">
                <a:solidFill>
                  <a:schemeClr val="bg1"/>
                </a:solidFill>
              </a:rPr>
              <a:t>программы. Рекурсия может ускорить работу программиста. Выбирайте,</a:t>
            </a:r>
            <a:r>
              <a:rPr lang="en-US" i="1" dirty="0">
                <a:solidFill>
                  <a:schemeClr val="bg1"/>
                </a:solidFill>
              </a:rPr>
              <a:t> </a:t>
            </a:r>
            <a:r>
              <a:rPr lang="ru-RU" i="1" dirty="0">
                <a:solidFill>
                  <a:schemeClr val="bg1"/>
                </a:solidFill>
              </a:rPr>
              <a:t>что важнее в вашей ситуации!</a:t>
            </a:r>
            <a:endParaRPr lang="en-US" i="1" dirty="0">
              <a:solidFill>
                <a:schemeClr val="bg1"/>
              </a:solidFill>
            </a:endParaRPr>
          </a:p>
          <a:p>
            <a:pPr algn="ctr"/>
            <a:r>
              <a:rPr lang="de-DE" i="1" dirty="0">
                <a:solidFill>
                  <a:schemeClr val="bg1"/>
                </a:solidFill>
              </a:rPr>
              <a:t>© stackoverflow.com</a:t>
            </a:r>
            <a:endParaRPr lang="ru-RU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2286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675594" y="157316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/>
              <a:t>Стек (</a:t>
            </a:r>
            <a:r>
              <a:rPr lang="en-US" sz="4800" dirty="0"/>
              <a:t>Last In, First Out, LIFO</a:t>
            </a:r>
            <a:r>
              <a:rPr lang="ru-RU" sz="4800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1A7286-C01A-1E42-C40D-23F10E59001E}"/>
              </a:ext>
            </a:extLst>
          </p:cNvPr>
          <p:cNvSpPr txBox="1"/>
          <p:nvPr/>
        </p:nvSpPr>
        <p:spPr>
          <a:xfrm>
            <a:off x="587830" y="1071249"/>
            <a:ext cx="1175657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Тарелки в шкафу </a:t>
            </a:r>
          </a:p>
          <a:p>
            <a:pPr lvl="1"/>
            <a:r>
              <a:rPr lang="ru-RU" sz="2800" dirty="0"/>
              <a:t>Когда ставишь новую тарелку, ты кладёшь её сверху.</a:t>
            </a:r>
          </a:p>
          <a:p>
            <a:pPr lvl="1"/>
            <a:r>
              <a:rPr lang="ru-RU" sz="2800" dirty="0"/>
              <a:t>Когда достаёшь тарелку, берёшь самую верхнюю.</a:t>
            </a:r>
          </a:p>
          <a:p>
            <a:pPr lvl="1"/>
            <a:r>
              <a:rPr lang="ru-RU" sz="2800" dirty="0"/>
              <a:t>Верхняя тарелка — последняя, что положили.</a:t>
            </a:r>
          </a:p>
          <a:p>
            <a:endParaRPr lang="ru-RU" sz="2800" dirty="0"/>
          </a:p>
          <a:p>
            <a:r>
              <a:rPr lang="ru-RU" sz="2800" dirty="0"/>
              <a:t>Стопка книг или блокнотов </a:t>
            </a:r>
          </a:p>
          <a:p>
            <a:pPr lvl="1"/>
            <a:r>
              <a:rPr lang="ru-RU" sz="2800" dirty="0"/>
              <a:t>Кладёшь новые книги сверху.</a:t>
            </a:r>
          </a:p>
          <a:p>
            <a:pPr lvl="1"/>
            <a:r>
              <a:rPr lang="ru-RU" sz="2800" dirty="0"/>
              <a:t>Читаешь сначала ту, что сверху, а не снизу.</a:t>
            </a:r>
          </a:p>
          <a:p>
            <a:endParaRPr lang="ru-RU" sz="2800" dirty="0"/>
          </a:p>
          <a:p>
            <a:r>
              <a:rPr lang="en-US" sz="2800" dirty="0" err="1"/>
              <a:t>Ctrl+z</a:t>
            </a:r>
            <a:r>
              <a:rPr lang="ru-RU" sz="2800" dirty="0"/>
              <a:t> в текстовом редакторе </a:t>
            </a:r>
          </a:p>
          <a:p>
            <a:pPr lvl="1"/>
            <a:r>
              <a:rPr lang="ru-RU" sz="2800" dirty="0"/>
              <a:t>Последнее действие сохраняется в “стеке”.</a:t>
            </a:r>
          </a:p>
          <a:p>
            <a:pPr lvl="1"/>
            <a:r>
              <a:rPr lang="ru-RU" sz="2800" dirty="0"/>
              <a:t>Когда нажимаешь </a:t>
            </a:r>
            <a:r>
              <a:rPr lang="en-US" sz="2800" dirty="0" err="1"/>
              <a:t>Ctrl+z</a:t>
            </a:r>
            <a:r>
              <a:rPr lang="ru-RU" sz="2800" dirty="0"/>
              <a:t>, отменяется последнее действие.</a:t>
            </a:r>
          </a:p>
        </p:txBody>
      </p:sp>
    </p:spTree>
    <p:extLst>
      <p:ext uri="{BB962C8B-B14F-4D97-AF65-F5344CB8AC3E}">
        <p14:creationId xmlns:p14="http://schemas.microsoft.com/office/powerpoint/2010/main" val="2884323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E5176-4FCC-3CEE-620D-C46EF1EB7AB2}"/>
              </a:ext>
            </a:extLst>
          </p:cNvPr>
          <p:cNvSpPr txBox="1"/>
          <p:nvPr/>
        </p:nvSpPr>
        <p:spPr>
          <a:xfrm>
            <a:off x="675594" y="198683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Стек вызовов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F67CE7-B0D1-55E6-BE68-A07102B3CB04}"/>
              </a:ext>
            </a:extLst>
          </p:cNvPr>
          <p:cNvSpPr txBox="1"/>
          <p:nvPr/>
        </p:nvSpPr>
        <p:spPr>
          <a:xfrm>
            <a:off x="500743" y="1261017"/>
            <a:ext cx="1257844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Во внутренней работе вашего компьютера используется стек, называемый стеком вызовов. Давайте посмотрим, как он работает. Предположим, имеется простая функция: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AC0CEA-77DB-7424-EA55-C0D132AC3448}"/>
              </a:ext>
            </a:extLst>
          </p:cNvPr>
          <p:cNvSpPr txBox="1"/>
          <p:nvPr/>
        </p:nvSpPr>
        <p:spPr>
          <a:xfrm>
            <a:off x="3736521" y="2877349"/>
            <a:ext cx="58293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1" dirty="0">
                <a:solidFill>
                  <a:schemeClr val="bg1"/>
                </a:solidFill>
              </a:rPr>
              <a:t>def greet(name):</a:t>
            </a:r>
          </a:p>
          <a:p>
            <a:pPr lvl="1"/>
            <a:r>
              <a:rPr lang="en-US" sz="2800" i="1" dirty="0">
                <a:solidFill>
                  <a:schemeClr val="bg1"/>
                </a:solidFill>
              </a:rPr>
              <a:t>print «</a:t>
            </a:r>
            <a:r>
              <a:rPr lang="ru-RU" sz="2800" i="1" dirty="0">
                <a:solidFill>
                  <a:schemeClr val="bg1"/>
                </a:solidFill>
              </a:rPr>
              <a:t>Привет</a:t>
            </a:r>
            <a:r>
              <a:rPr lang="en-US" sz="2800" i="1" dirty="0">
                <a:solidFill>
                  <a:schemeClr val="bg1"/>
                </a:solidFill>
              </a:rPr>
              <a:t>, " + name + "!"</a:t>
            </a:r>
          </a:p>
          <a:p>
            <a:pPr lvl="1"/>
            <a:r>
              <a:rPr lang="en-US" sz="2800" i="1" dirty="0">
                <a:solidFill>
                  <a:schemeClr val="bg1"/>
                </a:solidFill>
              </a:rPr>
              <a:t>greet2(name)</a:t>
            </a:r>
          </a:p>
          <a:p>
            <a:pPr lvl="1"/>
            <a:r>
              <a:rPr lang="en-US" sz="2800" i="1" dirty="0">
                <a:solidFill>
                  <a:schemeClr val="bg1"/>
                </a:solidFill>
              </a:rPr>
              <a:t>print «</a:t>
            </a:r>
            <a:r>
              <a:rPr lang="ru-RU" sz="2800" i="1" dirty="0">
                <a:solidFill>
                  <a:schemeClr val="bg1"/>
                </a:solidFill>
              </a:rPr>
              <a:t>скоро будем прощаться</a:t>
            </a:r>
            <a:r>
              <a:rPr lang="en-US" sz="2800" i="1" dirty="0">
                <a:solidFill>
                  <a:schemeClr val="bg1"/>
                </a:solidFill>
              </a:rPr>
              <a:t>..."</a:t>
            </a:r>
          </a:p>
          <a:p>
            <a:pPr lvl="1"/>
            <a:r>
              <a:rPr lang="en-US" sz="2800" i="1" dirty="0">
                <a:solidFill>
                  <a:schemeClr val="bg1"/>
                </a:solidFill>
              </a:rPr>
              <a:t>bye()</a:t>
            </a:r>
            <a:endParaRPr lang="ru-RU" sz="28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77771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675594" y="157316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/>
              <a:t>Стек (</a:t>
            </a:r>
            <a:r>
              <a:rPr lang="en-US" sz="4800" dirty="0"/>
              <a:t>Last In, First Out, LIFO</a:t>
            </a:r>
            <a:r>
              <a:rPr lang="ru-RU" sz="4800" dirty="0"/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1A7286-C01A-1E42-C40D-23F10E59001E}"/>
              </a:ext>
            </a:extLst>
          </p:cNvPr>
          <p:cNvSpPr txBox="1"/>
          <p:nvPr/>
        </p:nvSpPr>
        <p:spPr>
          <a:xfrm>
            <a:off x="587830" y="1071249"/>
            <a:ext cx="1175657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/>
              <a:t>Эта функция приветствует вас, после чего вызывает две другие функции.</a:t>
            </a:r>
          </a:p>
          <a:p>
            <a:r>
              <a:rPr lang="ru-RU" sz="2800"/>
              <a:t>Вот эти две функции:</a:t>
            </a:r>
            <a:endParaRPr lang="ru-RU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E59F6-36C7-22F3-69D8-3B73A17F8AE0}"/>
              </a:ext>
            </a:extLst>
          </p:cNvPr>
          <p:cNvSpPr txBox="1"/>
          <p:nvPr/>
        </p:nvSpPr>
        <p:spPr>
          <a:xfrm>
            <a:off x="3124881" y="2306322"/>
            <a:ext cx="735874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i="1" dirty="0" err="1"/>
              <a:t>def</a:t>
            </a:r>
            <a:r>
              <a:rPr lang="ru-RU" sz="2800" i="1" dirty="0"/>
              <a:t> greet2(</a:t>
            </a:r>
            <a:r>
              <a:rPr lang="ru-RU" sz="2800" i="1" dirty="0" err="1"/>
              <a:t>name</a:t>
            </a:r>
            <a:r>
              <a:rPr lang="ru-RU" sz="2800" i="1" dirty="0"/>
              <a:t>):</a:t>
            </a:r>
          </a:p>
          <a:p>
            <a:r>
              <a:rPr lang="ru-RU" sz="2800" i="1" dirty="0"/>
              <a:t>	</a:t>
            </a:r>
            <a:r>
              <a:rPr lang="ru-RU" sz="2800" i="1" dirty="0" err="1"/>
              <a:t>print</a:t>
            </a:r>
            <a:r>
              <a:rPr lang="ru-RU" sz="2800" i="1" dirty="0"/>
              <a:t> «Как дела," + </a:t>
            </a:r>
            <a:r>
              <a:rPr lang="ru-RU" sz="2800" i="1" dirty="0" err="1"/>
              <a:t>name</a:t>
            </a:r>
            <a:r>
              <a:rPr lang="ru-RU" sz="2800" i="1" dirty="0"/>
              <a:t> + "?"</a:t>
            </a:r>
          </a:p>
          <a:p>
            <a:endParaRPr lang="ru-RU" sz="2800" i="1" dirty="0"/>
          </a:p>
          <a:p>
            <a:r>
              <a:rPr lang="ru-RU" sz="2800" i="1" dirty="0" err="1"/>
              <a:t>def</a:t>
            </a:r>
            <a:r>
              <a:rPr lang="ru-RU" sz="2800" i="1" dirty="0"/>
              <a:t> </a:t>
            </a:r>
            <a:r>
              <a:rPr lang="ru-RU" sz="2800" i="1" dirty="0" err="1"/>
              <a:t>bye</a:t>
            </a:r>
            <a:r>
              <a:rPr lang="ru-RU" sz="2800" i="1" dirty="0"/>
              <a:t>():</a:t>
            </a:r>
          </a:p>
          <a:p>
            <a:r>
              <a:rPr lang="ru-RU" sz="2800" i="1" dirty="0"/>
              <a:t>	</a:t>
            </a:r>
            <a:r>
              <a:rPr lang="ru-RU" sz="2800" i="1" dirty="0" err="1"/>
              <a:t>print</a:t>
            </a:r>
            <a:r>
              <a:rPr lang="ru-RU" sz="2800" i="1" dirty="0"/>
              <a:t> «Всё, пока!"</a:t>
            </a:r>
          </a:p>
        </p:txBody>
      </p:sp>
    </p:spTree>
    <p:extLst>
      <p:ext uri="{BB962C8B-B14F-4D97-AF65-F5344CB8AC3E}">
        <p14:creationId xmlns:p14="http://schemas.microsoft.com/office/powerpoint/2010/main" val="515283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E5176-4FCC-3CEE-620D-C46EF1EB7AB2}"/>
              </a:ext>
            </a:extLst>
          </p:cNvPr>
          <p:cNvSpPr txBox="1"/>
          <p:nvPr/>
        </p:nvSpPr>
        <p:spPr>
          <a:xfrm>
            <a:off x="675594" y="198683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Стек вызовов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F67CE7-B0D1-55E6-BE68-A07102B3CB04}"/>
              </a:ext>
            </a:extLst>
          </p:cNvPr>
          <p:cNvSpPr txBox="1"/>
          <p:nvPr/>
        </p:nvSpPr>
        <p:spPr>
          <a:xfrm>
            <a:off x="314599" y="1019578"/>
            <a:ext cx="125784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Разберёмся, что происходит при вызове функций.</a:t>
            </a:r>
          </a:p>
          <a:p>
            <a:r>
              <a:rPr lang="ru-RU" sz="2800" dirty="0">
                <a:solidFill>
                  <a:schemeClr val="bg1"/>
                </a:solidFill>
              </a:rPr>
              <a:t>Предположим, в программе используется вызов </a:t>
            </a:r>
            <a:r>
              <a:rPr lang="ru-RU" sz="2800" dirty="0" err="1">
                <a:solidFill>
                  <a:schemeClr val="bg1"/>
                </a:solidFill>
              </a:rPr>
              <a:t>greet</a:t>
            </a:r>
            <a:r>
              <a:rPr lang="ru-RU" sz="2800" dirty="0">
                <a:solidFill>
                  <a:schemeClr val="bg1"/>
                </a:solidFill>
              </a:rPr>
              <a:t>(«Борислав"). Сначала ваш компьютер выделяет блок памяти для этого вызова функции.</a:t>
            </a:r>
            <a:endParaRPr lang="en-US" sz="2800" dirty="0">
              <a:solidFill>
                <a:schemeClr val="bg1"/>
              </a:solidFill>
            </a:endParaRPr>
          </a:p>
          <a:p>
            <a:r>
              <a:rPr lang="ru-RU" sz="2800" dirty="0">
                <a:solidFill>
                  <a:schemeClr val="bg1"/>
                </a:solidFill>
              </a:rPr>
              <a:t>Затем эта память используется. Переменной </a:t>
            </a:r>
            <a:r>
              <a:rPr lang="ru-RU" sz="2800" dirty="0" err="1">
                <a:solidFill>
                  <a:schemeClr val="bg1"/>
                </a:solidFill>
              </a:rPr>
              <a:t>name</a:t>
            </a:r>
            <a:r>
              <a:rPr lang="ru-RU" sz="2800" dirty="0">
                <a:solidFill>
                  <a:schemeClr val="bg1"/>
                </a:solidFill>
              </a:rPr>
              <a:t> присваивается значение</a:t>
            </a:r>
          </a:p>
          <a:p>
            <a:r>
              <a:rPr lang="ru-RU" sz="2800" dirty="0">
                <a:solidFill>
                  <a:schemeClr val="bg1"/>
                </a:solidFill>
              </a:rPr>
              <a:t>"</a:t>
            </a:r>
            <a:r>
              <a:rPr lang="ru-RU" sz="2800" dirty="0" err="1">
                <a:solidFill>
                  <a:schemeClr val="bg1"/>
                </a:solidFill>
              </a:rPr>
              <a:t>maggie</a:t>
            </a:r>
            <a:r>
              <a:rPr lang="ru-RU" sz="2800" dirty="0">
                <a:solidFill>
                  <a:schemeClr val="bg1"/>
                </a:solidFill>
              </a:rPr>
              <a:t>"; оно должно быть сохранено в памяти.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2E1891-C8F6-DEC8-5A76-C258D63FF2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176" y="3778661"/>
            <a:ext cx="3114675" cy="1381125"/>
          </a:xfrm>
          <a:prstGeom prst="rect">
            <a:avLst/>
          </a:prstGeom>
        </p:spPr>
      </p:pic>
      <p:sp>
        <p:nvSpPr>
          <p:cNvPr id="11" name="Стрелка: вправо 10">
            <a:extLst>
              <a:ext uri="{FF2B5EF4-FFF2-40B4-BE49-F238E27FC236}">
                <a16:creationId xmlns:a16="http://schemas.microsoft.com/office/drawing/2014/main" id="{B00ECD80-3238-B408-682B-63770C4FD62E}"/>
              </a:ext>
            </a:extLst>
          </p:cNvPr>
          <p:cNvSpPr/>
          <p:nvPr/>
        </p:nvSpPr>
        <p:spPr>
          <a:xfrm>
            <a:off x="5312229" y="4097760"/>
            <a:ext cx="2786742" cy="742926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BCC7912-7DD5-A74A-5317-C0BB72D7AC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4349" y="3845335"/>
            <a:ext cx="3038475" cy="1247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157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675594" y="157316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/>
              <a:t>А что дальше?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1A7286-C01A-1E42-C40D-23F10E59001E}"/>
              </a:ext>
            </a:extLst>
          </p:cNvPr>
          <p:cNvSpPr txBox="1"/>
          <p:nvPr/>
        </p:nvSpPr>
        <p:spPr>
          <a:xfrm>
            <a:off x="587830" y="1071249"/>
            <a:ext cx="1175657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Каждый раз, когда вы вызываете функцию, компьютер сохраняет в памяти</a:t>
            </a:r>
          </a:p>
          <a:p>
            <a:r>
              <a:rPr lang="ru-RU" sz="2800" dirty="0"/>
              <a:t>значения всех переменных для этого вызова. Далее выводится приветствие</a:t>
            </a:r>
          </a:p>
          <a:p>
            <a:r>
              <a:rPr lang="ru-RU" sz="2800" dirty="0"/>
              <a:t>Привет, Борислав!, после чего следует второй вызов greet2(«Борислав»). И снова компьютер выделяет блок памяти для вызова функции.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B5E21CF-7979-6F16-3201-8F930C4F76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830" y="3246360"/>
            <a:ext cx="4908982" cy="311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6741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E5176-4FCC-3CEE-620D-C46EF1EB7AB2}"/>
              </a:ext>
            </a:extLst>
          </p:cNvPr>
          <p:cNvSpPr txBox="1"/>
          <p:nvPr/>
        </p:nvSpPr>
        <p:spPr>
          <a:xfrm>
            <a:off x="675594" y="198683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Стек вызовов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F67CE7-B0D1-55E6-BE68-A07102B3CB04}"/>
              </a:ext>
            </a:extLst>
          </p:cNvPr>
          <p:cNvSpPr txBox="1"/>
          <p:nvPr/>
        </p:nvSpPr>
        <p:spPr>
          <a:xfrm>
            <a:off x="314599" y="1019578"/>
            <a:ext cx="125784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Ваш компьютер объединяет эти блоки в стек. Второй блок создается над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первым. Вы выводите сообщение Как дела, Борислав?, после чего возвращаете управление из вызова функции. Когда это происходит, блок на вершине стека извлекается из него.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8391359-EE62-DF2E-CF7F-B451C757C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222" y="3379746"/>
            <a:ext cx="3479348" cy="1967755"/>
          </a:xfrm>
          <a:prstGeom prst="rect">
            <a:avLst/>
          </a:prstGeom>
        </p:spPr>
      </p:pic>
      <p:sp>
        <p:nvSpPr>
          <p:cNvPr id="12" name="Стрелка: вправо 11">
            <a:extLst>
              <a:ext uri="{FF2B5EF4-FFF2-40B4-BE49-F238E27FC236}">
                <a16:creationId xmlns:a16="http://schemas.microsoft.com/office/drawing/2014/main" id="{32CADE1D-8C25-E2EA-4FB7-54168707CE15}"/>
              </a:ext>
            </a:extLst>
          </p:cNvPr>
          <p:cNvSpPr/>
          <p:nvPr/>
        </p:nvSpPr>
        <p:spPr>
          <a:xfrm>
            <a:off x="3887221" y="4047938"/>
            <a:ext cx="1207293" cy="339006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610B3C3-D1EA-54DB-F27E-8934BF5175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9165" y="3413488"/>
            <a:ext cx="3051064" cy="1913208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A3DDF915-E0ED-FFCA-62A6-9A100692B2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9858" y="3413488"/>
            <a:ext cx="3476625" cy="1962150"/>
          </a:xfrm>
          <a:prstGeom prst="rect">
            <a:avLst/>
          </a:prstGeom>
        </p:spPr>
      </p:pic>
      <p:sp>
        <p:nvSpPr>
          <p:cNvPr id="19" name="Стрелка: вправо 18">
            <a:extLst>
              <a:ext uri="{FF2B5EF4-FFF2-40B4-BE49-F238E27FC236}">
                <a16:creationId xmlns:a16="http://schemas.microsoft.com/office/drawing/2014/main" id="{C9F4815C-5327-9563-AA7D-42CD9FBA8E48}"/>
              </a:ext>
            </a:extLst>
          </p:cNvPr>
          <p:cNvSpPr/>
          <p:nvPr/>
        </p:nvSpPr>
        <p:spPr>
          <a:xfrm>
            <a:off x="8574880" y="4114800"/>
            <a:ext cx="1207293" cy="339006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27408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E5176-4FCC-3CEE-620D-C46EF1EB7AB2}"/>
              </a:ext>
            </a:extLst>
          </p:cNvPr>
          <p:cNvSpPr txBox="1"/>
          <p:nvPr/>
        </p:nvSpPr>
        <p:spPr>
          <a:xfrm>
            <a:off x="675594" y="198683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Псевдокод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F67CE7-B0D1-55E6-BE68-A07102B3CB04}"/>
              </a:ext>
            </a:extLst>
          </p:cNvPr>
          <p:cNvSpPr txBox="1"/>
          <p:nvPr/>
        </p:nvSpPr>
        <p:spPr>
          <a:xfrm>
            <a:off x="2166258" y="1766150"/>
            <a:ext cx="945968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Рекурсивные функции тоже используют стек вызовов!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Каждый раз, когда функция вызывает саму себя, Python кладёт информацию о вызове в стек.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Когда функция заканчивает работу, Python достаёт её из стека и возвращается к предыдущей.</a:t>
            </a:r>
          </a:p>
        </p:txBody>
      </p:sp>
    </p:spTree>
    <p:extLst>
      <p:ext uri="{BB962C8B-B14F-4D97-AF65-F5344CB8AC3E}">
        <p14:creationId xmlns:p14="http://schemas.microsoft.com/office/powerpoint/2010/main" val="40215805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675594" y="157316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/>
              <a:t>Вернёмся к коробкам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1A7286-C01A-1E42-C40D-23F10E59001E}"/>
              </a:ext>
            </a:extLst>
          </p:cNvPr>
          <p:cNvSpPr txBox="1"/>
          <p:nvPr/>
        </p:nvSpPr>
        <p:spPr>
          <a:xfrm>
            <a:off x="587830" y="1071249"/>
            <a:ext cx="117565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Вариант с кучей</a:t>
            </a:r>
          </a:p>
        </p:txBody>
      </p:sp>
      <p:pic>
        <p:nvPicPr>
          <p:cNvPr id="7" name="Рисунок 6" descr="Изображение выглядит как зарисовка, рисунок, иллюстрация&#10;&#10;Автоматически созданное описание">
            <a:extLst>
              <a:ext uri="{FF2B5EF4-FFF2-40B4-BE49-F238E27FC236}">
                <a16:creationId xmlns:a16="http://schemas.microsoft.com/office/drawing/2014/main" id="{790DAE77-62F8-4956-F796-D210088A8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6982" y="1800128"/>
            <a:ext cx="9472974" cy="5526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3365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9E5176-4FCC-3CEE-620D-C46EF1EB7AB2}"/>
              </a:ext>
            </a:extLst>
          </p:cNvPr>
          <p:cNvSpPr txBox="1"/>
          <p:nvPr/>
        </p:nvSpPr>
        <p:spPr>
          <a:xfrm>
            <a:off x="675594" y="198683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Вариант с рекурсией</a:t>
            </a:r>
          </a:p>
        </p:txBody>
      </p:sp>
      <p:pic>
        <p:nvPicPr>
          <p:cNvPr id="6" name="Рисунок 5" descr="Изображение выглядит как текст, зарисовка, рисунок, машина&#10;&#10;Автоматически созданное описание">
            <a:extLst>
              <a:ext uri="{FF2B5EF4-FFF2-40B4-BE49-F238E27FC236}">
                <a16:creationId xmlns:a16="http://schemas.microsoft.com/office/drawing/2014/main" id="{AB57F79D-97B2-F0B1-A2E4-80B797F732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735" y="122757"/>
            <a:ext cx="7424585" cy="7537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56157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622663" y="415498"/>
            <a:ext cx="21423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Задачи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A998A0-DF0F-E697-1D63-A6FF570C03E7}"/>
              </a:ext>
            </a:extLst>
          </p:cNvPr>
          <p:cNvSpPr txBox="1"/>
          <p:nvPr/>
        </p:nvSpPr>
        <p:spPr>
          <a:xfrm>
            <a:off x="198120" y="1665089"/>
            <a:ext cx="1137565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400" dirty="0">
                <a:solidFill>
                  <a:schemeClr val="bg1"/>
                </a:solidFill>
              </a:rPr>
              <a:t>Вывод чисел от 1 до n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Написать функцию, которая выводит числа от 1 до n рекурсивно.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Пример: </a:t>
            </a:r>
            <a:r>
              <a:rPr lang="ru-RU" sz="2400" dirty="0" err="1">
                <a:solidFill>
                  <a:schemeClr val="bg1"/>
                </a:solidFill>
              </a:rPr>
              <a:t>print_numbers</a:t>
            </a:r>
            <a:r>
              <a:rPr lang="ru-RU" sz="2400" dirty="0">
                <a:solidFill>
                  <a:schemeClr val="bg1"/>
                </a:solidFill>
              </a:rPr>
              <a:t>(5) → 1 2 3 4 5</a:t>
            </a:r>
          </a:p>
          <a:p>
            <a:pPr algn="just"/>
            <a:endParaRPr lang="ru-RU" sz="2400" dirty="0">
              <a:solidFill>
                <a:schemeClr val="bg1"/>
              </a:solidFill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Сумма чисел от 1 до n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Написать функцию, которая возвращает сумму чисел от 1 до n.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Пример: </a:t>
            </a:r>
            <a:r>
              <a:rPr lang="ru-RU" sz="2400" dirty="0" err="1">
                <a:solidFill>
                  <a:schemeClr val="bg1"/>
                </a:solidFill>
              </a:rPr>
              <a:t>sum</a:t>
            </a:r>
            <a:r>
              <a:rPr lang="ru-RU" sz="2400" dirty="0">
                <a:solidFill>
                  <a:schemeClr val="bg1"/>
                </a:solidFill>
              </a:rPr>
              <a:t>(5) → 15</a:t>
            </a:r>
          </a:p>
          <a:p>
            <a:pPr algn="just"/>
            <a:endParaRPr lang="ru-RU" sz="2400" dirty="0">
              <a:solidFill>
                <a:schemeClr val="bg1"/>
              </a:solidFill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Обратная строка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Написать рекурсивную функцию, которая переворачивает строку.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Пример: </a:t>
            </a:r>
            <a:r>
              <a:rPr lang="ru-RU" sz="2400" dirty="0" err="1">
                <a:solidFill>
                  <a:schemeClr val="bg1"/>
                </a:solidFill>
              </a:rPr>
              <a:t>reverse</a:t>
            </a:r>
            <a:r>
              <a:rPr lang="ru-RU" sz="2400" dirty="0">
                <a:solidFill>
                  <a:schemeClr val="bg1"/>
                </a:solidFill>
              </a:rPr>
              <a:t>("</a:t>
            </a:r>
            <a:r>
              <a:rPr lang="ru-RU" sz="2400" dirty="0" err="1">
                <a:solidFill>
                  <a:schemeClr val="bg1"/>
                </a:solidFill>
              </a:rPr>
              <a:t>abc</a:t>
            </a:r>
            <a:r>
              <a:rPr lang="ru-RU" sz="2400" dirty="0">
                <a:solidFill>
                  <a:schemeClr val="bg1"/>
                </a:solidFill>
              </a:rPr>
              <a:t>") → "</a:t>
            </a:r>
            <a:r>
              <a:rPr lang="ru-RU" sz="2400" dirty="0" err="1">
                <a:solidFill>
                  <a:schemeClr val="bg1"/>
                </a:solidFill>
              </a:rPr>
              <a:t>cba</a:t>
            </a:r>
            <a:r>
              <a:rPr lang="ru-RU" sz="2400" dirty="0">
                <a:solidFill>
                  <a:schemeClr val="bg1"/>
                </a:solidFill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2753484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622663" y="415498"/>
            <a:ext cx="80097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Классические задачи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A998A0-DF0F-E697-1D63-A6FF570C03E7}"/>
              </a:ext>
            </a:extLst>
          </p:cNvPr>
          <p:cNvSpPr txBox="1"/>
          <p:nvPr/>
        </p:nvSpPr>
        <p:spPr>
          <a:xfrm>
            <a:off x="198120" y="1665089"/>
            <a:ext cx="11375659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400" dirty="0">
                <a:solidFill>
                  <a:schemeClr val="bg1"/>
                </a:solidFill>
              </a:rPr>
              <a:t>Факториал числа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Реализовать вычисление факториала числа n! с помощью рекурсии.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Пример: </a:t>
            </a:r>
            <a:r>
              <a:rPr lang="ru-RU" sz="2400" dirty="0" err="1">
                <a:solidFill>
                  <a:schemeClr val="bg1"/>
                </a:solidFill>
              </a:rPr>
              <a:t>factorial</a:t>
            </a:r>
            <a:r>
              <a:rPr lang="ru-RU" sz="2400" dirty="0">
                <a:solidFill>
                  <a:schemeClr val="bg1"/>
                </a:solidFill>
              </a:rPr>
              <a:t>(4) → 24</a:t>
            </a:r>
          </a:p>
          <a:p>
            <a:pPr algn="just"/>
            <a:endParaRPr lang="ru-RU" sz="2400" dirty="0">
              <a:solidFill>
                <a:schemeClr val="bg1"/>
              </a:solidFill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Числа Фибоначчи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Вывести n-е число Фибоначчи рекурсивно.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Пример: </a:t>
            </a:r>
            <a:r>
              <a:rPr lang="ru-RU" sz="2400" dirty="0" err="1">
                <a:solidFill>
                  <a:schemeClr val="bg1"/>
                </a:solidFill>
              </a:rPr>
              <a:t>fibonacci</a:t>
            </a:r>
            <a:r>
              <a:rPr lang="ru-RU" sz="2400" dirty="0">
                <a:solidFill>
                  <a:schemeClr val="bg1"/>
                </a:solidFill>
              </a:rPr>
              <a:t>(6) → 8</a:t>
            </a:r>
          </a:p>
          <a:p>
            <a:pPr algn="just"/>
            <a:endParaRPr lang="ru-RU" sz="2400" dirty="0">
              <a:solidFill>
                <a:schemeClr val="bg1"/>
              </a:solidFill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Проверка палиндрома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Рекурсивно проверить, является ли строка палиндромом.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Пример: "</a:t>
            </a:r>
            <a:r>
              <a:rPr lang="ru-RU" sz="2400" dirty="0" err="1">
                <a:solidFill>
                  <a:schemeClr val="bg1"/>
                </a:solidFill>
              </a:rPr>
              <a:t>radar</a:t>
            </a:r>
            <a:r>
              <a:rPr lang="ru-RU" sz="2400" dirty="0">
                <a:solidFill>
                  <a:schemeClr val="bg1"/>
                </a:solidFill>
              </a:rPr>
              <a:t>" → True, "</a:t>
            </a:r>
            <a:r>
              <a:rPr lang="ru-RU" sz="2400" dirty="0" err="1">
                <a:solidFill>
                  <a:schemeClr val="bg1"/>
                </a:solidFill>
              </a:rPr>
              <a:t>hello</a:t>
            </a:r>
            <a:r>
              <a:rPr lang="ru-RU" sz="2400" dirty="0">
                <a:solidFill>
                  <a:schemeClr val="bg1"/>
                </a:solidFill>
              </a:rPr>
              <a:t>" → </a:t>
            </a:r>
            <a:r>
              <a:rPr lang="ru-RU" sz="2400" dirty="0" err="1">
                <a:solidFill>
                  <a:schemeClr val="bg1"/>
                </a:solidFill>
              </a:rPr>
              <a:t>False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2440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622663" y="415498"/>
            <a:ext cx="80097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</a:rPr>
              <a:t>А теперь </a:t>
            </a:r>
            <a:r>
              <a:rPr lang="ru-RU" sz="4800" dirty="0" err="1">
                <a:solidFill>
                  <a:schemeClr val="bg1"/>
                </a:solidFill>
              </a:rPr>
              <a:t>литкод</a:t>
            </a:r>
            <a:endParaRPr lang="ru-RU" sz="48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hlinkClick r:id="rId2"/>
            <a:extLst>
              <a:ext uri="{FF2B5EF4-FFF2-40B4-BE49-F238E27FC236}">
                <a16:creationId xmlns:a16="http://schemas.microsoft.com/office/drawing/2014/main" id="{C001EF96-779F-383E-97C3-13830EC5FBF8}"/>
              </a:ext>
            </a:extLst>
          </p:cNvPr>
          <p:cNvSpPr txBox="1"/>
          <p:nvPr/>
        </p:nvSpPr>
        <p:spPr>
          <a:xfrm>
            <a:off x="1252111" y="1980184"/>
            <a:ext cx="3669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>
                <a:solidFill>
                  <a:srgbClr val="FFFFFF"/>
                </a:solidFill>
              </a:defRPr>
            </a:pP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hlinkClick r:id="rId3"/>
              </a:rPr>
              <a:t>Задача 1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" name="TextBox 5">
            <a:hlinkClick r:id="rId2"/>
            <a:extLst>
              <a:ext uri="{FF2B5EF4-FFF2-40B4-BE49-F238E27FC236}">
                <a16:creationId xmlns:a16="http://schemas.microsoft.com/office/drawing/2014/main" id="{7FD3B675-BE56-C969-284A-8919BA6C078F}"/>
              </a:ext>
            </a:extLst>
          </p:cNvPr>
          <p:cNvSpPr txBox="1"/>
          <p:nvPr/>
        </p:nvSpPr>
        <p:spPr>
          <a:xfrm>
            <a:off x="1252111" y="2829269"/>
            <a:ext cx="3669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>
                <a:solidFill>
                  <a:srgbClr val="FFFFFF"/>
                </a:solidFill>
              </a:defRPr>
            </a:pP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hlinkClick r:id="rId4"/>
              </a:rPr>
              <a:t>Задача 2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" name="TextBox 6">
            <a:hlinkClick r:id="rId2"/>
            <a:extLst>
              <a:ext uri="{FF2B5EF4-FFF2-40B4-BE49-F238E27FC236}">
                <a16:creationId xmlns:a16="http://schemas.microsoft.com/office/drawing/2014/main" id="{CEBC5515-15D2-2250-5C65-AA27EF8F9EE5}"/>
              </a:ext>
            </a:extLst>
          </p:cNvPr>
          <p:cNvSpPr txBox="1"/>
          <p:nvPr/>
        </p:nvSpPr>
        <p:spPr>
          <a:xfrm>
            <a:off x="1252111" y="3678354"/>
            <a:ext cx="3669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>
                <a:solidFill>
                  <a:srgbClr val="FFFFFF"/>
                </a:solidFill>
              </a:defRPr>
            </a:pP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hlinkClick r:id="rId5"/>
              </a:rPr>
              <a:t>Задача 3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0159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675594" y="157316"/>
            <a:ext cx="98080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4800" dirty="0"/>
              <a:t>«Разделяй и властвуй»</a:t>
            </a:r>
          </a:p>
        </p:txBody>
      </p:sp>
      <p:pic>
        <p:nvPicPr>
          <p:cNvPr id="9" name="Рисунок 8" descr="Изображение выглядит как желтый, графическая вставка&#10;&#10;Автоматически созданное описание">
            <a:extLst>
              <a:ext uri="{FF2B5EF4-FFF2-40B4-BE49-F238E27FC236}">
                <a16:creationId xmlns:a16="http://schemas.microsoft.com/office/drawing/2014/main" id="{5A8016DC-2930-31D7-7BD0-7C2B4BE65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748558">
            <a:off x="9840818" y="3940850"/>
            <a:ext cx="4132356" cy="275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08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D6ACE2-3D3A-657A-7696-1420F333B051}"/>
              </a:ext>
            </a:extLst>
          </p:cNvPr>
          <p:cNvSpPr txBox="1"/>
          <p:nvPr/>
        </p:nvSpPr>
        <p:spPr>
          <a:xfrm>
            <a:off x="1030605" y="231408"/>
            <a:ext cx="12411075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</a:rPr>
              <a:t>Решение задачи методом «разделяй и властвуй» состоит из двух шагов.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1. Сначала определяется базовый случай. Это должен быть простейший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случай из всех возможных.</a:t>
            </a: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2. Задача делится или сокращается до тех пор, пока не будет сведена к базовому случаю.</a:t>
            </a: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endParaRPr lang="ru-RU" sz="2800" dirty="0">
              <a:solidFill>
                <a:schemeClr val="bg1"/>
              </a:solidFill>
            </a:endParaRPr>
          </a:p>
          <a:p>
            <a:pPr algn="ctr"/>
            <a:r>
              <a:rPr lang="ru-RU" sz="2800" dirty="0">
                <a:solidFill>
                  <a:schemeClr val="bg1"/>
                </a:solidFill>
              </a:rPr>
              <a:t>Какой может быть базовый случай?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C3E869B-9EF4-8F88-9D0E-3F6A51362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9542" y="3905011"/>
            <a:ext cx="65532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0427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76C4C-FDD7-59FD-3DE4-2DBCD06B1A70}"/>
              </a:ext>
            </a:extLst>
          </p:cNvPr>
          <p:cNvSpPr txBox="1"/>
          <p:nvPr/>
        </p:nvSpPr>
        <p:spPr>
          <a:xfrm>
            <a:off x="761999" y="-110401"/>
            <a:ext cx="125185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dirty="0"/>
              <a:t>Теперь нужно вычислить рекурсивный случай. </a:t>
            </a:r>
          </a:p>
        </p:txBody>
      </p:sp>
      <p:pic>
        <p:nvPicPr>
          <p:cNvPr id="6" name="Рисунок 5" descr="Изображение выглядит как рисунок, мультфильм, иллюстрация, зарисовка&#10;&#10;Автоматически созданное описание">
            <a:extLst>
              <a:ext uri="{FF2B5EF4-FFF2-40B4-BE49-F238E27FC236}">
                <a16:creationId xmlns:a16="http://schemas.microsoft.com/office/drawing/2014/main" id="{591088BE-B304-184E-47BD-76360EC29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6066" y="615043"/>
            <a:ext cx="7080473" cy="715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494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Рисунок 8" descr="Изображение выглядит как желтый, графическая вставка&#10;&#10;Автоматически созданное описание">
            <a:extLst>
              <a:ext uri="{FF2B5EF4-FFF2-40B4-BE49-F238E27FC236}">
                <a16:creationId xmlns:a16="http://schemas.microsoft.com/office/drawing/2014/main" id="{5A8016DC-2930-31D7-7BD0-7C2B4BE654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3" y="6565900"/>
            <a:ext cx="1809750" cy="12065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A5BE872-3884-9053-6DEC-99F9474D7C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623" y="457200"/>
            <a:ext cx="9007162" cy="5646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511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729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DD3DB09-3DBB-5848-1453-FCEFD7D45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40" y="115256"/>
            <a:ext cx="6200775" cy="28194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E773D59-B822-2E83-D55F-466F9184B5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556" y="230843"/>
            <a:ext cx="2124075" cy="22479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07E3CD-2FA6-B0F3-AF7C-AC2FC6B697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40" y="4654323"/>
            <a:ext cx="4714875" cy="214312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1D6F755-7C0C-0D10-572F-8426D9DB6D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6201" y="5458165"/>
            <a:ext cx="4772025" cy="2057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5F1CB52-F4A7-7DE2-039F-7B3A2770CDB1}"/>
              </a:ext>
            </a:extLst>
          </p:cNvPr>
          <p:cNvSpPr txBox="1"/>
          <p:nvPr/>
        </p:nvSpPr>
        <p:spPr>
          <a:xfrm>
            <a:off x="4781326" y="4883225"/>
            <a:ext cx="119674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/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9B2537-5483-F7DB-9A72-464F71236AAA}"/>
              </a:ext>
            </a:extLst>
          </p:cNvPr>
          <p:cNvSpPr txBox="1"/>
          <p:nvPr/>
        </p:nvSpPr>
        <p:spPr>
          <a:xfrm>
            <a:off x="5978075" y="-55995"/>
            <a:ext cx="119674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029757-87EE-D199-9C4A-3D23B7A3E336}"/>
              </a:ext>
            </a:extLst>
          </p:cNvPr>
          <p:cNvSpPr txBox="1"/>
          <p:nvPr/>
        </p:nvSpPr>
        <p:spPr>
          <a:xfrm>
            <a:off x="9368678" y="486957"/>
            <a:ext cx="119674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/>
              <a:t>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1EC05D-E2DE-5AF0-3BB5-CC1EEF57526E}"/>
              </a:ext>
            </a:extLst>
          </p:cNvPr>
          <p:cNvSpPr txBox="1"/>
          <p:nvPr/>
        </p:nvSpPr>
        <p:spPr>
          <a:xfrm>
            <a:off x="8257047" y="5668055"/>
            <a:ext cx="119674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6406964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79B2537-5483-F7DB-9A72-464F71236AAA}"/>
              </a:ext>
            </a:extLst>
          </p:cNvPr>
          <p:cNvSpPr txBox="1"/>
          <p:nvPr/>
        </p:nvSpPr>
        <p:spPr>
          <a:xfrm>
            <a:off x="1090749" y="-81615"/>
            <a:ext cx="1137565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/>
              <a:t>Базовый случай!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589934D-3B2D-5398-7EAA-AFE286B28F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318" y="1400959"/>
            <a:ext cx="7748018" cy="341052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5C1E160-D5F5-5AA2-4E3D-B6CCB17E4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114800"/>
            <a:ext cx="3213327" cy="410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4334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198120" y="0"/>
            <a:ext cx="537536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>
                <a:solidFill>
                  <a:schemeClr val="bg1"/>
                </a:solidFill>
              </a:rPr>
              <a:t>Начнём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A998A0-DF0F-E697-1D63-A6FF570C03E7}"/>
              </a:ext>
            </a:extLst>
          </p:cNvPr>
          <p:cNvSpPr txBox="1"/>
          <p:nvPr/>
        </p:nvSpPr>
        <p:spPr>
          <a:xfrm>
            <a:off x="198120" y="1434257"/>
            <a:ext cx="1137565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400" dirty="0">
                <a:solidFill>
                  <a:schemeClr val="bg1"/>
                </a:solidFill>
              </a:rPr>
              <a:t>Имеется массив чисел. Нужно просуммировать все числа и вернуть сумму. </a:t>
            </a:r>
          </a:p>
          <a:p>
            <a:pPr algn="just"/>
            <a:r>
              <a:rPr lang="ru-RU" sz="2400" b="1" dirty="0">
                <a:solidFill>
                  <a:schemeClr val="bg1"/>
                </a:solidFill>
              </a:rPr>
              <a:t>Шаг 1: </a:t>
            </a:r>
            <a:r>
              <a:rPr lang="ru-RU" sz="2400" dirty="0">
                <a:solidFill>
                  <a:schemeClr val="bg1"/>
                </a:solidFill>
              </a:rPr>
              <a:t>определить базовый случай. Как выглядит самый простой массив, который вы можете получить? Как должен выглядеть простейший случай? Если у вас будет массив с 0 или 1 элементом, он суммируется достаточно просто.</a:t>
            </a:r>
          </a:p>
          <a:p>
            <a:pPr algn="just"/>
            <a:r>
              <a:rPr lang="ru-RU" sz="2400" b="1" dirty="0">
                <a:solidFill>
                  <a:schemeClr val="bg1"/>
                </a:solidFill>
              </a:rPr>
              <a:t>Шаг 2:</a:t>
            </a:r>
            <a:r>
              <a:rPr lang="ru-RU" sz="2400" dirty="0">
                <a:solidFill>
                  <a:schemeClr val="bg1"/>
                </a:solidFill>
              </a:rPr>
              <a:t> каждый рекурсивный вызов должен приближать вас к пустому массиву. Как уменьшить размер задачи? Один из возможных способов: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A12487F-7066-2074-6688-A50C50CBB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1365" y="3742581"/>
            <a:ext cx="7630694" cy="4029819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0" y="274320"/>
            <a:ext cx="1097280" cy="10804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79B2537-5483-F7DB-9A72-464F71236AAA}"/>
              </a:ext>
            </a:extLst>
          </p:cNvPr>
          <p:cNvSpPr txBox="1"/>
          <p:nvPr/>
        </p:nvSpPr>
        <p:spPr>
          <a:xfrm>
            <a:off x="1938093" y="0"/>
            <a:ext cx="847683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6000" b="1" dirty="0"/>
              <a:t>Функциональные языки</a:t>
            </a:r>
            <a:r>
              <a:rPr lang="ru-RU" sz="60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3D71EA-BD89-FA8F-92C2-C5F0BCA82965}"/>
              </a:ext>
            </a:extLst>
          </p:cNvPr>
          <p:cNvSpPr txBox="1"/>
          <p:nvPr/>
        </p:nvSpPr>
        <p:spPr>
          <a:xfrm>
            <a:off x="2224997" y="892630"/>
            <a:ext cx="79030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/>
              <a:t>Языки программирования, в которых отсутствуют классические циклы (</a:t>
            </a:r>
            <a:r>
              <a:rPr lang="ru-RU" dirty="0" err="1"/>
              <a:t>for</a:t>
            </a:r>
            <a:r>
              <a:rPr lang="ru-RU" dirty="0"/>
              <a:t>, </a:t>
            </a:r>
            <a:r>
              <a:rPr lang="ru-RU" dirty="0" err="1"/>
              <a:t>while</a:t>
            </a:r>
            <a:r>
              <a:rPr lang="ru-RU" dirty="0"/>
              <a:t> и т.п.), но присутствует рекурсия как основной способ организации повторений, — это, прежде всего, функциональные языки программирования. В них циклы реализуются именно через рекурсивные вызовы функций.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901BCC-C5F5-7299-C991-B3C7EE2D820B}"/>
              </a:ext>
            </a:extLst>
          </p:cNvPr>
          <p:cNvSpPr txBox="1"/>
          <p:nvPr/>
        </p:nvSpPr>
        <p:spPr>
          <a:xfrm>
            <a:off x="370114" y="2353595"/>
            <a:ext cx="477882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Lisp</a:t>
            </a:r>
          </a:p>
          <a:p>
            <a:r>
              <a:rPr lang="ru-RU" dirty="0"/>
              <a:t>Один из старейших языков программирования, созданный в 1958 году Джоном Маккарти</a:t>
            </a:r>
          </a:p>
          <a:p>
            <a:r>
              <a:rPr lang="ru-RU" b="1" dirty="0"/>
              <a:t>Применение:</a:t>
            </a:r>
            <a:r>
              <a:rPr lang="ru-RU" dirty="0"/>
              <a:t> Используется в искусственном интеллекте, исследовательских проектах, автоматизации, прототипировании. В наши дни популярны диалекты Common </a:t>
            </a:r>
            <a:r>
              <a:rPr lang="ru-RU" dirty="0" err="1"/>
              <a:t>Lisp</a:t>
            </a:r>
            <a:r>
              <a:rPr lang="ru-RU" dirty="0"/>
              <a:t>, </a:t>
            </a:r>
            <a:r>
              <a:rPr lang="ru-RU" dirty="0" err="1"/>
              <a:t>Scheme</a:t>
            </a:r>
            <a:r>
              <a:rPr lang="ru-RU" dirty="0"/>
              <a:t> и </a:t>
            </a:r>
            <a:r>
              <a:rPr lang="ru-RU" dirty="0" err="1"/>
              <a:t>Clojure</a:t>
            </a:r>
            <a:endParaRPr lang="ru-RU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571A6D-9BC1-6D7A-F743-33884F36A0A0}"/>
              </a:ext>
            </a:extLst>
          </p:cNvPr>
          <p:cNvSpPr txBox="1"/>
          <p:nvPr/>
        </p:nvSpPr>
        <p:spPr>
          <a:xfrm>
            <a:off x="7315200" y="2404179"/>
            <a:ext cx="477882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Scheme</a:t>
            </a:r>
          </a:p>
          <a:p>
            <a:r>
              <a:rPr lang="ru-RU" dirty="0"/>
              <a:t>Диалект </a:t>
            </a:r>
            <a:r>
              <a:rPr lang="ru-RU" dirty="0" err="1"/>
              <a:t>Lisp</a:t>
            </a:r>
            <a:r>
              <a:rPr lang="ru-RU" dirty="0"/>
              <a:t>, разработанный в 1970-х годах, ориентирован на минимализм и чистоту функционального программирования.</a:t>
            </a:r>
          </a:p>
          <a:p>
            <a:r>
              <a:rPr lang="ru-RU" b="1" dirty="0"/>
              <a:t>Применение:</a:t>
            </a:r>
            <a:r>
              <a:rPr lang="ru-RU" dirty="0"/>
              <a:t> Образовательный язык, часто используется для обучения функциональному программированию, а также в исследовательских целях и прототипировании</a:t>
            </a:r>
            <a:endParaRPr lang="ru-RU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E99A24-4094-53D9-8CC0-A42A5AF76E59}"/>
              </a:ext>
            </a:extLst>
          </p:cNvPr>
          <p:cNvSpPr txBox="1"/>
          <p:nvPr/>
        </p:nvSpPr>
        <p:spPr>
          <a:xfrm>
            <a:off x="323348" y="5376628"/>
            <a:ext cx="477882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Haskell</a:t>
            </a:r>
          </a:p>
          <a:p>
            <a:r>
              <a:rPr lang="ru-RU" dirty="0"/>
              <a:t>Чисто функциональный язык программирования, разработанный в конце 1980-х — начале 1990-х годов, названный в честь логика Хаскелла Карри</a:t>
            </a:r>
          </a:p>
          <a:p>
            <a:r>
              <a:rPr lang="ru-RU" b="1" dirty="0"/>
              <a:t>Применение:</a:t>
            </a:r>
            <a:r>
              <a:rPr lang="ru-RU" dirty="0"/>
              <a:t> Используется в академических исследованиях, разработке сложных систем, финансовом секторе, обработке данных и параллельных вычислениях.</a:t>
            </a:r>
            <a:endParaRPr lang="ru-R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00FEB0-85FF-3919-46B1-F469E94E43F8}"/>
              </a:ext>
            </a:extLst>
          </p:cNvPr>
          <p:cNvSpPr txBox="1"/>
          <p:nvPr/>
        </p:nvSpPr>
        <p:spPr>
          <a:xfrm>
            <a:off x="7315200" y="5376628"/>
            <a:ext cx="578031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dirty="0"/>
              <a:t>Erlang</a:t>
            </a:r>
          </a:p>
          <a:p>
            <a:r>
              <a:rPr lang="ru-RU" dirty="0"/>
              <a:t>Язык программирования, разработанный в 1980-х годах компанией Ericsson для создания распределённых, отказоустойчивых и масштабируемых систем.</a:t>
            </a:r>
          </a:p>
          <a:p>
            <a:r>
              <a:rPr lang="ru-RU" b="1" dirty="0"/>
              <a:t>Применение:</a:t>
            </a:r>
            <a:r>
              <a:rPr lang="ru-RU" dirty="0"/>
              <a:t> Широко применяется в телекоммуникациях, системах реального времени, мессенджерах (например, </a:t>
            </a:r>
            <a:r>
              <a:rPr lang="ru-RU" dirty="0" err="1"/>
              <a:t>WhatsApp</a:t>
            </a:r>
            <a:r>
              <a:rPr lang="ru-RU" dirty="0"/>
              <a:t>), банковских системах и других областях, где важна надежность и масштабируемость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2812886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7772400"/>
            <a:ext cx="14630400" cy="457200"/>
          </a:xfrm>
          <a:prstGeom prst="rect">
            <a:avLst/>
          </a:prstGeom>
          <a:solidFill>
            <a:srgbClr val="640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6099C-598E-47B3-EDE4-26ECC9DB1A27}"/>
              </a:ext>
            </a:extLst>
          </p:cNvPr>
          <p:cNvSpPr txBox="1"/>
          <p:nvPr/>
        </p:nvSpPr>
        <p:spPr>
          <a:xfrm>
            <a:off x="198120" y="0"/>
            <a:ext cx="537536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9600" dirty="0">
                <a:solidFill>
                  <a:schemeClr val="bg1"/>
                </a:solidFill>
              </a:rPr>
              <a:t>Задачи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A998A0-DF0F-E697-1D63-A6FF570C03E7}"/>
              </a:ext>
            </a:extLst>
          </p:cNvPr>
          <p:cNvSpPr txBox="1"/>
          <p:nvPr/>
        </p:nvSpPr>
        <p:spPr>
          <a:xfrm>
            <a:off x="198120" y="1665089"/>
            <a:ext cx="1137565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2400" dirty="0">
                <a:solidFill>
                  <a:schemeClr val="bg1"/>
                </a:solidFill>
              </a:rPr>
              <a:t>- Имеется массив чисел. Нужно просуммировать все числа и вернуть сумму. 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- Напишите рекурсивную функцию для подсчета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элементов в списке.</a:t>
            </a:r>
          </a:p>
          <a:p>
            <a:pPr algn="just"/>
            <a:r>
              <a:rPr lang="ru-RU" sz="2400" dirty="0">
                <a:solidFill>
                  <a:schemeClr val="bg1"/>
                </a:solidFill>
              </a:rPr>
              <a:t>- Напишите рекурсивную функцию для нахождения наибольшего числа в списке.</a:t>
            </a:r>
          </a:p>
        </p:txBody>
      </p:sp>
      <p:sp>
        <p:nvSpPr>
          <p:cNvPr id="5" name="TextBox 4">
            <a:hlinkClick r:id="rId2"/>
            <a:extLst>
              <a:ext uri="{FF2B5EF4-FFF2-40B4-BE49-F238E27FC236}">
                <a16:creationId xmlns:a16="http://schemas.microsoft.com/office/drawing/2014/main" id="{F1A42942-B4DA-D4D9-172B-6CD13350668E}"/>
              </a:ext>
            </a:extLst>
          </p:cNvPr>
          <p:cNvSpPr txBox="1"/>
          <p:nvPr/>
        </p:nvSpPr>
        <p:spPr>
          <a:xfrm>
            <a:off x="544540" y="6650155"/>
            <a:ext cx="3669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>
                <a:solidFill>
                  <a:srgbClr val="FFFFFF"/>
                </a:solidFill>
              </a:defRPr>
            </a:pPr>
            <a:r>
              <a:rPr lang="ru-RU" dirty="0">
                <a:solidFill>
                  <a:schemeClr val="tx1">
                    <a:lumMod val="95000"/>
                    <a:lumOff val="5000"/>
                  </a:schemeClr>
                </a:solidFill>
                <a:hlinkClick r:id="rId3"/>
              </a:rPr>
              <a:t>Задача 1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4593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1262</Words>
  <Application>Microsoft Office PowerPoint</Application>
  <PresentationFormat>Произвольный</PresentationFormat>
  <Paragraphs>149</Paragraphs>
  <Slides>28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28</vt:i4>
      </vt:variant>
    </vt:vector>
  </HeadingPairs>
  <TitlesOfParts>
    <vt:vector size="32" baseType="lpstr">
      <vt:lpstr>Arial</vt:lpstr>
      <vt:lpstr>Calibri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Илья Паньковский</dc:creator>
  <cp:keywords/>
  <dc:description>generated using python-pptx</dc:description>
  <cp:lastModifiedBy>Илья Паньковский</cp:lastModifiedBy>
  <cp:revision>87</cp:revision>
  <dcterms:created xsi:type="dcterms:W3CDTF">2013-01-27T09:14:16Z</dcterms:created>
  <dcterms:modified xsi:type="dcterms:W3CDTF">2025-10-18T20:18:37Z</dcterms:modified>
  <cp:category/>
</cp:coreProperties>
</file>