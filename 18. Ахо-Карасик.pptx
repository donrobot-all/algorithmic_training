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304" r:id="rId4"/>
    <p:sldId id="305" r:id="rId5"/>
    <p:sldId id="298" r:id="rId6"/>
    <p:sldId id="307" r:id="rId7"/>
    <p:sldId id="306" r:id="rId8"/>
    <p:sldId id="312" r:id="rId9"/>
    <p:sldId id="310" r:id="rId10"/>
    <p:sldId id="313" r:id="rId11"/>
    <p:sldId id="315" r:id="rId12"/>
    <p:sldId id="316" r:id="rId13"/>
    <p:sldId id="318" r:id="rId14"/>
    <p:sldId id="314" r:id="rId15"/>
    <p:sldId id="317" r:id="rId16"/>
    <p:sldId id="311" r:id="rId17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29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9" autoAdjust="0"/>
    <p:restoredTop sz="94844" autoAdjust="0"/>
  </p:normalViewPr>
  <p:slideViewPr>
    <p:cSldViewPr snapToGrid="0" snapToObjects="1">
      <p:cViewPr varScale="1">
        <p:scale>
          <a:sx n="89" d="100"/>
          <a:sy n="89" d="100"/>
        </p:scale>
        <p:origin x="101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ordwall.net/ru/resource/23039884/%D0%BB%D0%BE%D0%B3%D0%B0%D1%80%D0%B8%D1%84%D0%BC%D1%8B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iomoc.github.io/aho-corasick-viz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ordwall.net/ru/resource/23039884/%D0%BB%D0%BE%D0%B3%D0%B0%D1%80%D0%B8%D1%84%D0%BC%D1%8B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iomoc.github.io/aho-corasick-viz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ordwall.net/ru/resource/23039884/%D0%BB%D0%BE%D0%B3%D0%B0%D1%80%D0%B8%D1%84%D0%BC%D1%8B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iomoc.github.io/aho-corasick-viz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ordwall.net/ru/resource/23039884/%D0%BB%D0%BE%D0%B3%D0%B0%D1%80%D0%B8%D1%84%D0%BC%D1%8B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iomoc.github.io/aho-corasick-viz/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410584" y="335778"/>
            <a:ext cx="3186257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dirty="0" err="1">
                <a:solidFill>
                  <a:schemeClr val="bg1"/>
                </a:solidFill>
              </a:rPr>
              <a:t>Ахо-Корасик</a:t>
            </a:r>
            <a:endParaRPr lang="ru-RU" sz="4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3943" y="285886"/>
            <a:ext cx="195739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rPr lang="ru-RU" b="1" dirty="0"/>
              <a:t>АК (</a:t>
            </a:r>
            <a:r>
              <a:rPr lang="en-US" b="1" dirty="0"/>
              <a:t>AC)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23943" y="1354793"/>
            <a:ext cx="122314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 err="1"/>
              <a:t>Ахо-Корасик</a:t>
            </a:r>
            <a:r>
              <a:rPr lang="ru-RU" sz="2800" dirty="0"/>
              <a:t> = Бор + KMP-идея откатов → автомат для многословного поиска.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Рисунок 7" descr="Изображение выглядит как круг, снимок экрана, диаграмма, Красочность&#10;&#10;Автоматически созданное описание">
            <a:extLst>
              <a:ext uri="{FF2B5EF4-FFF2-40B4-BE49-F238E27FC236}">
                <a16:creationId xmlns:a16="http://schemas.microsoft.com/office/drawing/2014/main" id="{DF7444C2-986F-9AD3-AB15-3790594FB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7163" y="2259364"/>
            <a:ext cx="3374474" cy="47664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910F0E9-D694-334D-8CD2-4F8DFAAD4E6D}"/>
              </a:ext>
            </a:extLst>
          </p:cNvPr>
          <p:cNvSpPr txBox="1"/>
          <p:nvPr/>
        </p:nvSpPr>
        <p:spPr>
          <a:xfrm>
            <a:off x="598763" y="2441983"/>
            <a:ext cx="957430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это эффективный способ одновременного поиска всех вхождений множества шаблонов (строк) в большом тексте. Он строит на основе шаблонов структуру данных — бор, а затем преобразует её в конечный детерминированный автомат с </a:t>
            </a:r>
            <a:r>
              <a:rPr lang="ru-RU" sz="2800" dirty="0" err="1"/>
              <a:t>суффиксными</a:t>
            </a:r>
            <a:r>
              <a:rPr lang="ru-RU" sz="2800" dirty="0"/>
              <a:t> ссылками (переходами при несовпадении). Благодаря этому, алгоритм обрабатывает текст за время, пропорциональное длине текста плюс суммарная длина шаблонов и количество вхождений. Он позволяет находить все шаблоны, включая пересекающиеся и вложенные, за один проход по тексту без возвратов назад.</a:t>
            </a:r>
          </a:p>
        </p:txBody>
      </p:sp>
      <p:pic>
        <p:nvPicPr>
          <p:cNvPr id="14" name="Рисунок 13" descr="Изображение выглядит как зарисовка, черный, рисунок, искусство&#10;&#10;Автоматически созданное описание">
            <a:extLst>
              <a:ext uri="{FF2B5EF4-FFF2-40B4-BE49-F238E27FC236}">
                <a16:creationId xmlns:a16="http://schemas.microsoft.com/office/drawing/2014/main" id="{761FEBA7-F860-E3C2-3601-DD6DF9C699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11384396" y="1252263"/>
            <a:ext cx="4515405" cy="20142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399" y="231559"/>
            <a:ext cx="460132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rPr lang="ru-RU" dirty="0"/>
              <a:t>Где используется?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0436" y="2110894"/>
            <a:ext cx="64159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Системы полнотекстового поиска  </a:t>
            </a:r>
          </a:p>
          <a:p>
            <a:pPr algn="ctr"/>
            <a:r>
              <a:rPr lang="ru-RU" dirty="0"/>
              <a:t>для одновременного поиска множества ключевых слов в больших документах и базах данных.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A60FEA-447D-0AD1-64F6-598CE9834FEA}"/>
              </a:ext>
            </a:extLst>
          </p:cNvPr>
          <p:cNvSpPr txBox="1"/>
          <p:nvPr/>
        </p:nvSpPr>
        <p:spPr>
          <a:xfrm>
            <a:off x="6867861" y="2110894"/>
            <a:ext cx="69082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Системы обнаружения вторжений и антивирусы </a:t>
            </a:r>
          </a:p>
          <a:p>
            <a:pPr algn="ctr"/>
            <a:r>
              <a:rPr lang="ru-RU" dirty="0"/>
              <a:t>для быстрого сопоставления сигнатур вредоносных образцов в сетевом трафике и файлах.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2A1363-00C8-9FD4-2BD2-62265EF604D8}"/>
              </a:ext>
            </a:extLst>
          </p:cNvPr>
          <p:cNvSpPr txBox="1"/>
          <p:nvPr/>
        </p:nvSpPr>
        <p:spPr>
          <a:xfrm>
            <a:off x="1330415" y="3994081"/>
            <a:ext cx="40959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Биоинформатика</a:t>
            </a:r>
            <a:r>
              <a:rPr lang="ru-RU" dirty="0"/>
              <a:t>  </a:t>
            </a:r>
          </a:p>
          <a:p>
            <a:pPr algn="ctr"/>
            <a:r>
              <a:rPr lang="ru-RU" dirty="0"/>
              <a:t>для поиска множественных мотивов и последовательностей в ДНК и белках.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6E2F2B-FAA2-532C-C115-B7943279A0B0}"/>
              </a:ext>
            </a:extLst>
          </p:cNvPr>
          <p:cNvSpPr txBox="1"/>
          <p:nvPr/>
        </p:nvSpPr>
        <p:spPr>
          <a:xfrm>
            <a:off x="6586369" y="4054740"/>
            <a:ext cx="74711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Обработка естественного языка и сжатие данных</a:t>
            </a:r>
          </a:p>
          <a:p>
            <a:pPr algn="ctr"/>
            <a:r>
              <a:rPr lang="ru-RU" dirty="0"/>
              <a:t>для анализа текста с использованием словарей, фильтрации или автоматического цензурирования.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1875830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68767" y="274320"/>
            <a:ext cx="410080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Ключевые шаги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A8A294-EF3A-D2B8-CA62-0581E4018453}"/>
              </a:ext>
            </a:extLst>
          </p:cNvPr>
          <p:cNvSpPr txBox="1"/>
          <p:nvPr/>
        </p:nvSpPr>
        <p:spPr>
          <a:xfrm>
            <a:off x="989705" y="1884167"/>
            <a:ext cx="1190333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</a:rPr>
              <a:t>построение бора из всех шаблонов;</a:t>
            </a:r>
          </a:p>
          <a:p>
            <a:pPr algn="ctr"/>
            <a:endParaRPr lang="ru-RU" sz="2800" dirty="0">
              <a:solidFill>
                <a:schemeClr val="bg1"/>
              </a:solidFill>
            </a:endParaRPr>
          </a:p>
          <a:p>
            <a:pPr algn="ctr"/>
            <a:r>
              <a:rPr lang="ru-RU" sz="2800" dirty="0">
                <a:solidFill>
                  <a:schemeClr val="bg1"/>
                </a:solidFill>
              </a:rPr>
              <a:t>вычисление </a:t>
            </a:r>
            <a:r>
              <a:rPr lang="ru-RU" sz="2800" dirty="0" err="1">
                <a:solidFill>
                  <a:schemeClr val="bg1"/>
                </a:solidFill>
              </a:rPr>
              <a:t>суффиксных</a:t>
            </a:r>
            <a:r>
              <a:rPr lang="ru-RU" sz="2800" dirty="0">
                <a:solidFill>
                  <a:schemeClr val="bg1"/>
                </a:solidFill>
              </a:rPr>
              <a:t> ссылок для возвратов при несовпадении;</a:t>
            </a:r>
          </a:p>
          <a:p>
            <a:pPr algn="ctr"/>
            <a:endParaRPr lang="ru-RU" sz="2800" dirty="0">
              <a:solidFill>
                <a:schemeClr val="bg1"/>
              </a:solidFill>
            </a:endParaRPr>
          </a:p>
          <a:p>
            <a:pPr algn="ctr"/>
            <a:r>
              <a:rPr lang="ru-RU" sz="2800" dirty="0">
                <a:solidFill>
                  <a:schemeClr val="bg1"/>
                </a:solidFill>
              </a:rPr>
              <a:t>обход текста с использованием автомата, фиксируя все вхождения.</a:t>
            </a:r>
          </a:p>
        </p:txBody>
      </p:sp>
    </p:spTree>
    <p:extLst>
      <p:ext uri="{BB962C8B-B14F-4D97-AF65-F5344CB8AC3E}">
        <p14:creationId xmlns:p14="http://schemas.microsoft.com/office/powerpoint/2010/main" val="2612009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552" y="224198"/>
            <a:ext cx="524707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rPr lang="ru-RU" dirty="0"/>
              <a:t>Ключевая идея КМП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C3276C-2FC6-2EFE-3B56-5EAF08D27658}"/>
              </a:ext>
            </a:extLst>
          </p:cNvPr>
          <p:cNvSpPr txBox="1"/>
          <p:nvPr/>
        </p:nvSpPr>
        <p:spPr>
          <a:xfrm>
            <a:off x="503552" y="1385099"/>
            <a:ext cx="11716112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В КМП мы строим длительность самого длинного суффикса, который одновременно является префиксом:</a:t>
            </a:r>
          </a:p>
          <a:p>
            <a:endParaRPr lang="ru-RU" sz="2800" dirty="0"/>
          </a:p>
          <a:p>
            <a:r>
              <a:rPr lang="ru-RU" sz="2800" dirty="0"/>
              <a:t>- он подсказывает, куда откатиться, если следующая буква не совпала;</a:t>
            </a:r>
          </a:p>
          <a:p>
            <a:r>
              <a:rPr lang="ru-RU" sz="2800" dirty="0"/>
              <a:t>- то есть префикс-функция говорит</a:t>
            </a:r>
            <a:br>
              <a:rPr lang="ru-RU" sz="2800" dirty="0"/>
            </a:br>
            <a:endParaRPr lang="ru-RU" sz="2800" dirty="0"/>
          </a:p>
          <a:p>
            <a:pPr algn="ctr"/>
            <a:r>
              <a:rPr lang="ru-RU" sz="2800" i="1" dirty="0"/>
              <a:t>«если на позиции j в шаблоне случилась ошибка — продолжай с позиции π[j-1]»</a:t>
            </a:r>
            <a:r>
              <a:rPr lang="ru-RU" sz="2800" dirty="0"/>
              <a:t>.</a:t>
            </a:r>
          </a:p>
          <a:p>
            <a:pPr algn="ctr"/>
            <a:endParaRPr lang="ru-RU" sz="2800" dirty="0"/>
          </a:p>
          <a:p>
            <a:pPr algn="ctr"/>
            <a:endParaRPr lang="ru-RU" sz="2800" dirty="0"/>
          </a:p>
          <a:p>
            <a:pPr algn="ctr"/>
            <a:r>
              <a:rPr lang="ru-RU" sz="2800" dirty="0"/>
              <a:t>Если есть ошибка — не надо возвращаться назад в тексте, только в шаблоне.</a:t>
            </a:r>
          </a:p>
          <a:p>
            <a:pPr algn="ctr"/>
            <a:r>
              <a:rPr lang="ru-RU" sz="2800" dirty="0"/>
              <a:t>Потому что часть уже просмотренных букв потенциально является началом совпадения.</a:t>
            </a:r>
          </a:p>
        </p:txBody>
      </p:sp>
    </p:spTree>
    <p:extLst>
      <p:ext uri="{BB962C8B-B14F-4D97-AF65-F5344CB8AC3E}">
        <p14:creationId xmlns:p14="http://schemas.microsoft.com/office/powerpoint/2010/main" val="2993972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3793" y="302266"/>
            <a:ext cx="195117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rPr lang="ru-RU" dirty="0"/>
              <a:t>Так вот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34B404-E3F4-4112-BBFE-5B671ED1360D}"/>
              </a:ext>
            </a:extLst>
          </p:cNvPr>
          <p:cNvSpPr txBox="1"/>
          <p:nvPr/>
        </p:nvSpPr>
        <p:spPr>
          <a:xfrm>
            <a:off x="763793" y="2007572"/>
            <a:ext cx="1199477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Построение </a:t>
            </a:r>
            <a:r>
              <a:rPr lang="ru-RU" sz="2800" dirty="0" err="1"/>
              <a:t>суффиксных</a:t>
            </a:r>
            <a:r>
              <a:rPr lang="ru-RU" sz="2800" dirty="0"/>
              <a:t> ссылок = обобщение префикс-функции КМП</a:t>
            </a:r>
          </a:p>
          <a:p>
            <a:r>
              <a:rPr lang="ru-RU" sz="2800" dirty="0"/>
              <a:t>Чтобы изучить алгоритм, достаточно понять:</a:t>
            </a:r>
          </a:p>
          <a:p>
            <a:endParaRPr lang="ru-RU" sz="2800" dirty="0"/>
          </a:p>
          <a:p>
            <a:r>
              <a:rPr lang="ru-RU" sz="2800" dirty="0"/>
              <a:t>Строим </a:t>
            </a:r>
            <a:r>
              <a:rPr lang="ru-RU" sz="2800" dirty="0" err="1"/>
              <a:t>fail</a:t>
            </a:r>
            <a:r>
              <a:rPr lang="ru-RU" sz="2800" dirty="0"/>
              <a:t>-ссылки (как π-массив), но не для одной строки, а для всех узлов Бора.</a:t>
            </a:r>
          </a:p>
        </p:txBody>
      </p:sp>
    </p:spTree>
    <p:extLst>
      <p:ext uri="{BB962C8B-B14F-4D97-AF65-F5344CB8AC3E}">
        <p14:creationId xmlns:p14="http://schemas.microsoft.com/office/powerpoint/2010/main" val="4096983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787102" y="335778"/>
            <a:ext cx="485697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Ключевая идея Бор</a:t>
            </a:r>
            <a:endParaRPr lang="ru-RU" sz="44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13F2EE-082F-3D64-0707-610E55007F80}"/>
              </a:ext>
            </a:extLst>
          </p:cNvPr>
          <p:cNvSpPr txBox="1"/>
          <p:nvPr/>
        </p:nvSpPr>
        <p:spPr>
          <a:xfrm>
            <a:off x="747656" y="1324735"/>
            <a:ext cx="1159674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Бор умеет: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 хранить много шаблонов;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 быстро переходить по буквам </a:t>
            </a:r>
            <a:r>
              <a:rPr lang="ru-RU" i="1" dirty="0">
                <a:solidFill>
                  <a:schemeClr val="bg1"/>
                </a:solidFill>
              </a:rPr>
              <a:t>(детям)</a:t>
            </a:r>
            <a:r>
              <a:rPr lang="ru-RU" sz="2800" dirty="0">
                <a:solidFill>
                  <a:schemeClr val="bg1"/>
                </a:solidFill>
              </a:rPr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 не умеет обрабатывать ошибки сопоставления.</a:t>
            </a:r>
          </a:p>
          <a:p>
            <a:endParaRPr lang="ru-RU" sz="2800" dirty="0">
              <a:solidFill>
                <a:schemeClr val="bg1"/>
              </a:solidFill>
            </a:endParaRPr>
          </a:p>
          <a:p>
            <a:r>
              <a:rPr lang="ru-RU" sz="2800" dirty="0">
                <a:solidFill>
                  <a:schemeClr val="bg1"/>
                </a:solidFill>
              </a:rPr>
              <a:t>То есть:</a:t>
            </a:r>
          </a:p>
          <a:p>
            <a:endParaRPr lang="ru-RU" sz="2800" dirty="0">
              <a:solidFill>
                <a:schemeClr val="bg1"/>
              </a:solidFill>
            </a:endParaRPr>
          </a:p>
          <a:p>
            <a:pPr algn="ctr"/>
            <a:r>
              <a:rPr lang="ru-RU" sz="2800" dirty="0">
                <a:solidFill>
                  <a:schemeClr val="bg1"/>
                </a:solidFill>
              </a:rPr>
              <a:t>В Боре нет механизма «куда пойти, если следующей буквы нет».</a:t>
            </a:r>
          </a:p>
        </p:txBody>
      </p:sp>
    </p:spTree>
    <p:extLst>
      <p:ext uri="{BB962C8B-B14F-4D97-AF65-F5344CB8AC3E}">
        <p14:creationId xmlns:p14="http://schemas.microsoft.com/office/powerpoint/2010/main" val="750037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787102" y="335778"/>
            <a:ext cx="268374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Наш план!</a:t>
            </a:r>
            <a:endParaRPr lang="ru-RU" sz="44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13F2EE-082F-3D64-0707-610E55007F80}"/>
              </a:ext>
            </a:extLst>
          </p:cNvPr>
          <p:cNvSpPr txBox="1"/>
          <p:nvPr/>
        </p:nvSpPr>
        <p:spPr>
          <a:xfrm>
            <a:off x="787102" y="1354793"/>
            <a:ext cx="11596744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Шаг 1.</a:t>
            </a:r>
          </a:p>
          <a:p>
            <a:r>
              <a:rPr lang="ru-RU" sz="2800" dirty="0" err="1">
                <a:solidFill>
                  <a:schemeClr val="bg1"/>
                </a:solidFill>
              </a:rPr>
              <a:t>Возьмьм</a:t>
            </a:r>
            <a:r>
              <a:rPr lang="ru-RU" sz="2800" dirty="0">
                <a:solidFill>
                  <a:schemeClr val="bg1"/>
                </a:solidFill>
              </a:rPr>
              <a:t> Бор и вставим слова</a:t>
            </a:r>
          </a:p>
          <a:p>
            <a:r>
              <a:rPr lang="ru-RU" sz="2800" dirty="0">
                <a:solidFill>
                  <a:schemeClr val="bg1"/>
                </a:solidFill>
              </a:rPr>
              <a:t>Шаг 2.</a:t>
            </a:r>
          </a:p>
          <a:p>
            <a:r>
              <a:rPr lang="ru-RU" sz="2800" dirty="0">
                <a:solidFill>
                  <a:schemeClr val="bg1"/>
                </a:solidFill>
              </a:rPr>
              <a:t>Для каждого узла напишем список детей</a:t>
            </a:r>
          </a:p>
          <a:p>
            <a:r>
              <a:rPr lang="ru-RU" sz="2800" dirty="0">
                <a:solidFill>
                  <a:schemeClr val="bg1"/>
                </a:solidFill>
              </a:rPr>
              <a:t>Шаг 3.</a:t>
            </a:r>
          </a:p>
          <a:p>
            <a:r>
              <a:rPr lang="ru-RU" sz="2800" dirty="0">
                <a:solidFill>
                  <a:schemeClr val="bg1"/>
                </a:solidFill>
              </a:rPr>
              <a:t>Построим </a:t>
            </a:r>
            <a:r>
              <a:rPr lang="ru-RU" sz="2800" dirty="0" err="1">
                <a:solidFill>
                  <a:schemeClr val="bg1"/>
                </a:solidFill>
              </a:rPr>
              <a:t>fail</a:t>
            </a:r>
            <a:r>
              <a:rPr lang="ru-RU" sz="2800" dirty="0">
                <a:solidFill>
                  <a:schemeClr val="bg1"/>
                </a:solidFill>
              </a:rPr>
              <a:t>-ссылки так же, как </a:t>
            </a:r>
            <a:r>
              <a:rPr lang="ru-RU" sz="2800" dirty="0" err="1">
                <a:solidFill>
                  <a:schemeClr val="bg1"/>
                </a:solidFill>
              </a:rPr>
              <a:t>lps</a:t>
            </a:r>
            <a:r>
              <a:rPr lang="ru-RU" sz="2800" dirty="0">
                <a:solidFill>
                  <a:schemeClr val="bg1"/>
                </a:solidFill>
              </a:rPr>
              <a:t> в КМП, только для всего дерева.</a:t>
            </a:r>
          </a:p>
          <a:p>
            <a:r>
              <a:rPr lang="ru-RU" sz="2800" dirty="0">
                <a:solidFill>
                  <a:schemeClr val="bg1"/>
                </a:solidFill>
              </a:rPr>
              <a:t>Шаг 4.</a:t>
            </a:r>
          </a:p>
          <a:p>
            <a:r>
              <a:rPr lang="ru-RU" sz="2800" dirty="0">
                <a:solidFill>
                  <a:schemeClr val="bg1"/>
                </a:solidFill>
              </a:rPr>
              <a:t>Построим </a:t>
            </a:r>
            <a:r>
              <a:rPr lang="ru-RU" sz="2800" dirty="0" err="1">
                <a:solidFill>
                  <a:schemeClr val="bg1"/>
                </a:solidFill>
              </a:rPr>
              <a:t>output</a:t>
            </a:r>
            <a:r>
              <a:rPr lang="ru-RU" sz="2800" dirty="0">
                <a:solidFill>
                  <a:schemeClr val="bg1"/>
                </a:solidFill>
              </a:rPr>
              <a:t>-ссылки — чтобы знать, какие шаблоны заканчиваются в данном узле.</a:t>
            </a:r>
          </a:p>
          <a:p>
            <a:r>
              <a:rPr lang="ru-RU" sz="2800" dirty="0">
                <a:solidFill>
                  <a:schemeClr val="bg1"/>
                </a:solidFill>
              </a:rPr>
              <a:t>Шаг 5.</a:t>
            </a:r>
          </a:p>
          <a:p>
            <a:r>
              <a:rPr lang="ru-RU" sz="2800" dirty="0">
                <a:solidFill>
                  <a:schemeClr val="bg1"/>
                </a:solidFill>
              </a:rPr>
              <a:t>Возьмём текст и симулируем переходы: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 переход по букве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 если перехода нет — </a:t>
            </a:r>
            <a:r>
              <a:rPr lang="ru-RU" sz="2800" dirty="0" err="1">
                <a:solidFill>
                  <a:schemeClr val="bg1"/>
                </a:solidFill>
              </a:rPr>
              <a:t>fail</a:t>
            </a:r>
            <a:r>
              <a:rPr lang="ru-RU" sz="2800" dirty="0">
                <a:solidFill>
                  <a:schemeClr val="bg1"/>
                </a:solidFill>
              </a:rPr>
              <a:t>-переход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 фиксируй совпадения</a:t>
            </a:r>
          </a:p>
        </p:txBody>
      </p:sp>
    </p:spTree>
    <p:extLst>
      <p:ext uri="{BB962C8B-B14F-4D97-AF65-F5344CB8AC3E}">
        <p14:creationId xmlns:p14="http://schemas.microsoft.com/office/powerpoint/2010/main" val="3839460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CF5ED3-67E9-FED0-0082-E53927D76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228" y="322729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690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3793" y="302266"/>
            <a:ext cx="256512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rPr lang="ru-RU" dirty="0"/>
              <a:t>Алгоритм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hlinkClick r:id="rId3"/>
            <a:extLst>
              <a:ext uri="{FF2B5EF4-FFF2-40B4-BE49-F238E27FC236}">
                <a16:creationId xmlns:a16="http://schemas.microsoft.com/office/drawing/2014/main" id="{E228DE5C-9EEF-2AA8-647C-2AB7FEE739A9}"/>
              </a:ext>
            </a:extLst>
          </p:cNvPr>
          <p:cNvSpPr txBox="1"/>
          <p:nvPr/>
        </p:nvSpPr>
        <p:spPr>
          <a:xfrm>
            <a:off x="326954" y="6664762"/>
            <a:ext cx="45892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rPr lang="ru-RU" dirty="0" err="1">
                <a:solidFill>
                  <a:schemeClr val="tx1">
                    <a:lumMod val="95000"/>
                    <a:lumOff val="5000"/>
                  </a:schemeClr>
                </a:solidFill>
                <a:hlinkClick r:id="rId4"/>
              </a:rPr>
              <a:t>Ахо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hlinkClick r:id="rId4"/>
              </a:rPr>
              <a:t>-Карасик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6AF6C8-5ED7-9C5E-E012-0482D3855596}"/>
              </a:ext>
            </a:extLst>
          </p:cNvPr>
          <p:cNvSpPr txBox="1"/>
          <p:nvPr/>
        </p:nvSpPr>
        <p:spPr>
          <a:xfrm>
            <a:off x="780527" y="1071707"/>
            <a:ext cx="11403106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ru-RU" sz="2800" dirty="0" err="1"/>
              <a:t>build_trie</a:t>
            </a:r>
            <a:r>
              <a:rPr lang="ru-RU" sz="2800" dirty="0"/>
              <a:t> (построение бора):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 Создаем корневую вершину.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 Для каждого шаблона из списка: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800" dirty="0"/>
              <a:t>Идём по символам шаблона, начиная с корня.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800" dirty="0"/>
              <a:t>Для каждого символа, если переход по нему отсутствует, создаём новую вершину и добавляем переход.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800" dirty="0"/>
              <a:t>Переходим в эту вершину.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 После добавления последнего символа шаблона, помечаем эту вершину как терминальную, связав с индексом шаблона.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/>
              <a:t> Возвращаем структуру переходов, массив выходных состояний (какие шаблоны заканчиваются в вершине), и массив </a:t>
            </a:r>
            <a:r>
              <a:rPr lang="ru-RU" sz="2800" dirty="0" err="1"/>
              <a:t>суффиксных</a:t>
            </a:r>
            <a:r>
              <a:rPr lang="ru-RU" sz="2800" dirty="0"/>
              <a:t> ссылок (заранее с -1).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312653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3793" y="302266"/>
            <a:ext cx="385490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rPr lang="ru-RU" dirty="0"/>
              <a:t>Пример ответа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hlinkClick r:id="rId3"/>
            <a:extLst>
              <a:ext uri="{FF2B5EF4-FFF2-40B4-BE49-F238E27FC236}">
                <a16:creationId xmlns:a16="http://schemas.microsoft.com/office/drawing/2014/main" id="{E228DE5C-9EEF-2AA8-647C-2AB7FEE739A9}"/>
              </a:ext>
            </a:extLst>
          </p:cNvPr>
          <p:cNvSpPr txBox="1"/>
          <p:nvPr/>
        </p:nvSpPr>
        <p:spPr>
          <a:xfrm>
            <a:off x="122558" y="7138051"/>
            <a:ext cx="45892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rPr lang="ru-RU" dirty="0" err="1">
                <a:solidFill>
                  <a:schemeClr val="tx1">
                    <a:lumMod val="95000"/>
                    <a:lumOff val="5000"/>
                  </a:schemeClr>
                </a:solidFill>
                <a:hlinkClick r:id="rId4"/>
              </a:rPr>
              <a:t>Ахо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hlinkClick r:id="rId4"/>
              </a:rPr>
              <a:t>-Карасик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6AF6C8-5ED7-9C5E-E012-0482D3855596}"/>
              </a:ext>
            </a:extLst>
          </p:cNvPr>
          <p:cNvSpPr txBox="1"/>
          <p:nvPr/>
        </p:nvSpPr>
        <p:spPr>
          <a:xfrm>
            <a:off x="423134" y="1173307"/>
            <a:ext cx="13443473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patterns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de-DE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ababac</a:t>
            </a:r>
            <a:r>
              <a:rPr lang="de-DE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de-DE" sz="28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Edges</a:t>
            </a:r>
            <a:r>
              <a:rPr lang="ru-RU" sz="2800" dirty="0">
                <a:solidFill>
                  <a:srgbClr val="CCCCCC"/>
                </a:solidFill>
                <a:latin typeface="Consolas" panose="020B0609020204030204" pitchFamily="49" charset="0"/>
              </a:rPr>
              <a:t> = </a:t>
            </a:r>
            <a:r>
              <a:rPr lang="de-DE" sz="2800" dirty="0"/>
              <a:t>[{'a': 1}, {'b': 2}, {'a': 3}, {'b': 4}, {'a': 5}, {'c': 6}, {}] </a:t>
            </a:r>
            <a:endParaRPr lang="ru-RU" sz="2800" dirty="0"/>
          </a:p>
          <a:p>
            <a:r>
              <a:rPr lang="de-DE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ru-RU" sz="2800" dirty="0">
                <a:solidFill>
                  <a:srgbClr val="CCCCCC"/>
                </a:solidFill>
                <a:latin typeface="Consolas" panose="020B0609020204030204" pitchFamily="49" charset="0"/>
              </a:rPr>
              <a:t> = </a:t>
            </a:r>
            <a:r>
              <a:rPr lang="de-DE" sz="2800" dirty="0"/>
              <a:t>[[], [], [], [], [], [], [0]]</a:t>
            </a:r>
            <a:endParaRPr lang="ru-RU" sz="2800" dirty="0"/>
          </a:p>
          <a:p>
            <a:endParaRPr lang="ru-RU" sz="2800" dirty="0"/>
          </a:p>
          <a:p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patterns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de-DE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ababac</a:t>
            </a:r>
            <a:r>
              <a:rPr lang="de-DE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babab</a:t>
            </a:r>
            <a:r>
              <a:rPr lang="de-DE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de-DE" sz="28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Edges</a:t>
            </a:r>
            <a:r>
              <a:rPr lang="ru-RU" sz="2800" dirty="0">
                <a:solidFill>
                  <a:srgbClr val="CCCCCC"/>
                </a:solidFill>
                <a:latin typeface="Consolas" panose="020B0609020204030204" pitchFamily="49" charset="0"/>
              </a:rPr>
              <a:t> =</a:t>
            </a:r>
            <a:r>
              <a:rPr lang="de-DE" sz="2800" dirty="0"/>
              <a:t>[{'a': 1, 'b': 7}, {'b': 2}, {'a': 3}, {'b': 4}, {'a': 5}, {'c': 6}, {}, {'a': 8}, {'b': 9}, {'a': 10}, {'b': 11}, {}] </a:t>
            </a:r>
            <a:endParaRPr lang="ru-RU" sz="2800" dirty="0"/>
          </a:p>
          <a:p>
            <a:r>
              <a:rPr lang="de-DE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ru-RU" sz="2800" dirty="0">
                <a:solidFill>
                  <a:srgbClr val="CCCCCC"/>
                </a:solidFill>
                <a:latin typeface="Consolas" panose="020B0609020204030204" pitchFamily="49" charset="0"/>
              </a:rPr>
              <a:t> =</a:t>
            </a:r>
            <a:r>
              <a:rPr lang="de-DE" sz="2800" dirty="0"/>
              <a:t>[[], [], [], [], [], [], [0], [], [], [], [], [1]]</a:t>
            </a:r>
            <a:endParaRPr lang="ru-RU" sz="2800" dirty="0"/>
          </a:p>
          <a:p>
            <a:endParaRPr lang="ru-RU" sz="2800" dirty="0"/>
          </a:p>
          <a:p>
            <a:r>
              <a:rPr lang="de-DE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patterns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de-DE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ababac</a:t>
            </a:r>
            <a:r>
              <a:rPr lang="de-DE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bababab</a:t>
            </a:r>
            <a:r>
              <a:rPr lang="de-DE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"ab"</a:t>
            </a:r>
            <a:r>
              <a:rPr lang="de-DE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endParaRPr lang="ru-RU" sz="2800" dirty="0"/>
          </a:p>
          <a:p>
            <a:r>
              <a:rPr lang="de-DE" sz="28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Edges</a:t>
            </a:r>
            <a:r>
              <a:rPr lang="ru-RU" sz="2800" dirty="0">
                <a:solidFill>
                  <a:srgbClr val="CCCCCC"/>
                </a:solidFill>
                <a:latin typeface="Consolas" panose="020B0609020204030204" pitchFamily="49" charset="0"/>
              </a:rPr>
              <a:t> =</a:t>
            </a:r>
            <a:r>
              <a:rPr lang="de-DE" sz="2800" dirty="0"/>
              <a:t>[{'a': 1, 'b': 7}, {'b': 2}, {'a': 3}, {'b': 4}, {'a': 5}, {'c': 6}, {}, {'a': 8}, {'b': 9}, {'a': 10}, {'b': 11}, {'a': 12}, {'b': 13}, {}] </a:t>
            </a:r>
            <a:endParaRPr lang="ru-RU" sz="2800" dirty="0"/>
          </a:p>
          <a:p>
            <a:r>
              <a:rPr lang="de-DE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ru-RU" sz="2800" dirty="0">
                <a:solidFill>
                  <a:srgbClr val="CCCCCC"/>
                </a:solidFill>
                <a:latin typeface="Consolas" panose="020B0609020204030204" pitchFamily="49" charset="0"/>
              </a:rPr>
              <a:t> =</a:t>
            </a:r>
            <a:r>
              <a:rPr lang="de-DE" sz="2800" dirty="0"/>
              <a:t>[[], [], [2], [], [], [], [0], [], [], [], [], [], [], [1]]</a:t>
            </a:r>
            <a:endParaRPr lang="ru-RU" sz="2800" dirty="0"/>
          </a:p>
          <a:p>
            <a:r>
              <a:rPr lang="de-DE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Fail</a:t>
            </a:r>
            <a:r>
              <a:rPr lang="ru-RU" sz="28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у всех будет заполнен -1 ([-1, -1, -1, -1, -1])</a:t>
            </a:r>
            <a:endParaRPr lang="de-DE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629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787102" y="335778"/>
            <a:ext cx="248523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Алгоритм</a:t>
            </a:r>
            <a:endParaRPr lang="ru-RU" sz="44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D127F-C4BF-ED2C-D888-6DC08880275A}"/>
              </a:ext>
            </a:extLst>
          </p:cNvPr>
          <p:cNvSpPr txBox="1"/>
          <p:nvPr/>
        </p:nvSpPr>
        <p:spPr>
          <a:xfrm>
            <a:off x="178553" y="1105219"/>
            <a:ext cx="14273293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 startAt="2"/>
            </a:pPr>
            <a:r>
              <a:rPr lang="ru-RU" sz="2800" dirty="0" err="1">
                <a:solidFill>
                  <a:schemeClr val="bg1"/>
                </a:solidFill>
              </a:rPr>
              <a:t>build_automaton</a:t>
            </a:r>
            <a:r>
              <a:rPr lang="ru-RU" sz="2800" dirty="0">
                <a:solidFill>
                  <a:schemeClr val="bg1"/>
                </a:solidFill>
              </a:rPr>
              <a:t> (построение </a:t>
            </a:r>
            <a:r>
              <a:rPr lang="ru-RU" sz="2800" dirty="0" err="1">
                <a:solidFill>
                  <a:schemeClr val="bg1"/>
                </a:solidFill>
              </a:rPr>
              <a:t>суффиксных</a:t>
            </a:r>
            <a:r>
              <a:rPr lang="ru-RU" sz="2800" dirty="0">
                <a:solidFill>
                  <a:schemeClr val="bg1"/>
                </a:solidFill>
              </a:rPr>
              <a:t> ссылок и автоматных переходов):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 Инициализируем очередь.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 Для всех вершин первого уровня (прямых детей корня) присваиваем </a:t>
            </a:r>
            <a:r>
              <a:rPr lang="ru-RU" sz="2800" dirty="0" err="1">
                <a:solidFill>
                  <a:schemeClr val="bg1"/>
                </a:solidFill>
              </a:rPr>
              <a:t>суффиксную</a:t>
            </a:r>
            <a:r>
              <a:rPr lang="ru-RU" sz="2800" dirty="0">
                <a:solidFill>
                  <a:schemeClr val="bg1"/>
                </a:solidFill>
              </a:rPr>
              <a:t> ссылку в корень и добавляем их в очередь.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 Пока очередь не пуста, для вершины из очереди: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Для каждого символа, по которому есть переход из этой вершины: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Определяем </a:t>
            </a:r>
            <a:r>
              <a:rPr lang="ru-RU" sz="2800" dirty="0" err="1">
                <a:solidFill>
                  <a:schemeClr val="bg1"/>
                </a:solidFill>
              </a:rPr>
              <a:t>суффиксную</a:t>
            </a:r>
            <a:r>
              <a:rPr lang="ru-RU" sz="2800" dirty="0">
                <a:solidFill>
                  <a:schemeClr val="bg1"/>
                </a:solidFill>
              </a:rPr>
              <a:t> ссылку для дочерней вершины через </a:t>
            </a:r>
            <a:r>
              <a:rPr lang="ru-RU" sz="2800" dirty="0" err="1">
                <a:solidFill>
                  <a:schemeClr val="bg1"/>
                </a:solidFill>
              </a:rPr>
              <a:t>суффиксную</a:t>
            </a:r>
            <a:r>
              <a:rPr lang="ru-RU" sz="2800" dirty="0">
                <a:solidFill>
                  <a:schemeClr val="bg1"/>
                </a:solidFill>
              </a:rPr>
              <a:t> ссылку текущей вершины.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Если по символу нет перехода из узла по </a:t>
            </a:r>
            <a:r>
              <a:rPr lang="ru-RU" sz="2800" dirty="0" err="1">
                <a:solidFill>
                  <a:schemeClr val="bg1"/>
                </a:solidFill>
              </a:rPr>
              <a:t>суффиксной</a:t>
            </a:r>
            <a:r>
              <a:rPr lang="ru-RU" sz="2800" dirty="0">
                <a:solidFill>
                  <a:schemeClr val="bg1"/>
                </a:solidFill>
              </a:rPr>
              <a:t> ссылке, переходим дальше по цепочке </a:t>
            </a:r>
            <a:r>
              <a:rPr lang="ru-RU" sz="2800" dirty="0" err="1">
                <a:solidFill>
                  <a:schemeClr val="bg1"/>
                </a:solidFill>
              </a:rPr>
              <a:t>суффиксных</a:t>
            </a:r>
            <a:r>
              <a:rPr lang="ru-RU" sz="2800" dirty="0">
                <a:solidFill>
                  <a:schemeClr val="bg1"/>
                </a:solidFill>
              </a:rPr>
              <a:t> ссылок.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Присваиваем найденную вершину </a:t>
            </a:r>
            <a:r>
              <a:rPr lang="ru-RU" sz="2800" dirty="0" err="1">
                <a:solidFill>
                  <a:schemeClr val="bg1"/>
                </a:solidFill>
              </a:rPr>
              <a:t>суффиксной</a:t>
            </a:r>
            <a:r>
              <a:rPr lang="ru-RU" sz="2800" dirty="0">
                <a:solidFill>
                  <a:schemeClr val="bg1"/>
                </a:solidFill>
              </a:rPr>
              <a:t> ссылке дочерней вершины.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Объединяем выходные состояния дочерней вершины с выходными состояниями ее </a:t>
            </a:r>
            <a:r>
              <a:rPr lang="ru-RU" sz="2800" dirty="0" err="1">
                <a:solidFill>
                  <a:schemeClr val="bg1"/>
                </a:solidFill>
              </a:rPr>
              <a:t>суффиксной</a:t>
            </a:r>
            <a:r>
              <a:rPr lang="ru-RU" sz="2800" dirty="0">
                <a:solidFill>
                  <a:schemeClr val="bg1"/>
                </a:solidFill>
              </a:rPr>
              <a:t> ссылки.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Добавляем дочернюю вершину в очередь.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 Результатом являются обновленные массивы </a:t>
            </a:r>
            <a:r>
              <a:rPr lang="ru-RU" sz="2800" dirty="0" err="1">
                <a:solidFill>
                  <a:schemeClr val="bg1"/>
                </a:solidFill>
              </a:rPr>
              <a:t>суффиксных</a:t>
            </a:r>
            <a:r>
              <a:rPr lang="ru-RU" sz="2800" dirty="0">
                <a:solidFill>
                  <a:schemeClr val="bg1"/>
                </a:solidFill>
              </a:rPr>
              <a:t> ссылок и выходных состояний.</a:t>
            </a:r>
          </a:p>
        </p:txBody>
      </p:sp>
    </p:spTree>
    <p:extLst>
      <p:ext uri="{BB962C8B-B14F-4D97-AF65-F5344CB8AC3E}">
        <p14:creationId xmlns:p14="http://schemas.microsoft.com/office/powerpoint/2010/main" val="1020607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787102" y="335778"/>
            <a:ext cx="801488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Не возвращает, а модифицирует</a:t>
            </a:r>
            <a:endParaRPr lang="ru-RU" sz="44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7D127F-C4BF-ED2C-D888-6DC08880275A}"/>
              </a:ext>
            </a:extLst>
          </p:cNvPr>
          <p:cNvSpPr txBox="1"/>
          <p:nvPr/>
        </p:nvSpPr>
        <p:spPr>
          <a:xfrm>
            <a:off x="178553" y="1166677"/>
            <a:ext cx="1427329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 err="1">
                <a:solidFill>
                  <a:schemeClr val="bg1"/>
                </a:solidFill>
              </a:rPr>
              <a:t>build_automaton</a:t>
            </a:r>
            <a:r>
              <a:rPr lang="ru-RU" sz="2800" dirty="0">
                <a:solidFill>
                  <a:schemeClr val="bg1"/>
                </a:solidFill>
              </a:rPr>
              <a:t> модифицирует входные структуры </a:t>
            </a:r>
            <a:r>
              <a:rPr lang="ru-RU" sz="2800" dirty="0" err="1">
                <a:solidFill>
                  <a:schemeClr val="bg1"/>
                </a:solidFill>
              </a:rPr>
              <a:t>fail</a:t>
            </a:r>
            <a:r>
              <a:rPr lang="ru-RU" sz="2800" dirty="0">
                <a:solidFill>
                  <a:schemeClr val="bg1"/>
                </a:solidFill>
              </a:rPr>
              <a:t> и </a:t>
            </a:r>
            <a:r>
              <a:rPr lang="ru-RU" sz="2800" dirty="0" err="1">
                <a:solidFill>
                  <a:schemeClr val="bg1"/>
                </a:solidFill>
              </a:rPr>
              <a:t>output</a:t>
            </a:r>
            <a:r>
              <a:rPr lang="ru-RU" sz="2800" dirty="0">
                <a:solidFill>
                  <a:schemeClr val="bg1"/>
                </a:solidFill>
              </a:rPr>
              <a:t>, дополняя их.</a:t>
            </a:r>
            <a:endParaRPr lang="ru-RU" sz="28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5F9369-A3C6-900E-9246-C43583532EAF}"/>
              </a:ext>
            </a:extLst>
          </p:cNvPr>
          <p:cNvSpPr txBox="1"/>
          <p:nvPr/>
        </p:nvSpPr>
        <p:spPr>
          <a:xfrm>
            <a:off x="787102" y="2120589"/>
            <a:ext cx="1230495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patterns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ababac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endParaRPr lang="en-US" dirty="0"/>
          </a:p>
          <a:p>
            <a:r>
              <a:rPr lang="ru-RU" dirty="0">
                <a:solidFill>
                  <a:schemeClr val="bg1"/>
                </a:solidFill>
              </a:rPr>
              <a:t>[{'a': 1}, {'b': 2}, {'a': 3}, {'b': 4}, {'a': 5}, {'c': 6}, {}] 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[-1, -1, -1, -1, -1, -1, -1]</a:t>
            </a:r>
            <a:r>
              <a:rPr lang="en-US" dirty="0">
                <a:solidFill>
                  <a:schemeClr val="bg1"/>
                </a:solidFill>
              </a:rPr>
              <a:t>    -&gt;</a:t>
            </a:r>
            <a:r>
              <a:rPr lang="ru-RU" dirty="0">
                <a:solidFill>
                  <a:schemeClr val="bg1"/>
                </a:solidFill>
              </a:rPr>
              <a:t> [-1, 0, 0, 1, 2, 3, 0] 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[[], [], [], [], [], [], [0]]</a:t>
            </a:r>
            <a:r>
              <a:rPr lang="en-US" dirty="0">
                <a:solidFill>
                  <a:schemeClr val="bg1"/>
                </a:solidFill>
              </a:rPr>
              <a:t>        -&gt; </a:t>
            </a:r>
            <a:r>
              <a:rPr lang="ru-RU" dirty="0">
                <a:solidFill>
                  <a:schemeClr val="bg1"/>
                </a:solidFill>
              </a:rPr>
              <a:t>[[], [], [], [], [], [], [0]]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patterns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ababac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bababab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de-DE" dirty="0">
                <a:solidFill>
                  <a:schemeClr val="bg1"/>
                </a:solidFill>
              </a:rPr>
              <a:t>[{'a': 1, 'b': 7}, {'b': 2}, {'a': 3}, {'b': 4}, {'a': 5}, {'c': 6}, {}, {'a': 8}, {'b': 9}, {'a': 10}, {'b': 11}, {'a': 12}, {'b': 13}, {}] </a:t>
            </a:r>
          </a:p>
          <a:p>
            <a:endParaRPr lang="de-DE" dirty="0">
              <a:solidFill>
                <a:schemeClr val="bg1"/>
              </a:solidFill>
            </a:endParaRPr>
          </a:p>
          <a:p>
            <a:r>
              <a:rPr lang="de-DE" dirty="0">
                <a:solidFill>
                  <a:schemeClr val="bg1"/>
                </a:solidFill>
              </a:rPr>
              <a:t>[-1, -1, -1, -1, -1, -1, -1, -1, -1, -1, -1, -1, -1, -1]            [-1, 0, 7, 8, 9, 10, 0, 0, 1, 2, 3, 4, 5, 11]</a:t>
            </a:r>
          </a:p>
          <a:p>
            <a:r>
              <a:rPr lang="de-DE" dirty="0">
                <a:solidFill>
                  <a:schemeClr val="bg1"/>
                </a:solidFill>
              </a:rPr>
              <a:t> [[], [], [], [], [], [], [0], [], [], [], [], [], [], [1]]                   [[], [], [], [], [], [], [0], [], [], [], [], [], [], [1]]</a:t>
            </a:r>
          </a:p>
          <a:p>
            <a:endParaRPr lang="de-DE" dirty="0">
              <a:solidFill>
                <a:schemeClr val="bg1"/>
              </a:solidFill>
            </a:endParaRPr>
          </a:p>
          <a:p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patterns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ababac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bababab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"ab"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bab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endParaRPr lang="de-DE" dirty="0">
              <a:solidFill>
                <a:schemeClr val="bg1"/>
              </a:solidFill>
            </a:endParaRPr>
          </a:p>
          <a:p>
            <a:r>
              <a:rPr lang="de-DE" dirty="0">
                <a:solidFill>
                  <a:schemeClr val="bg1"/>
                </a:solidFill>
              </a:rPr>
              <a:t>[{'a': 1, 'b': 7}, {'b': 2}, {'a': 3}, {'b': 4}, {'a': 5}, {'c': 6}, {}, {'a': 8}, {'b': 9}, {'a': 10}, {'b': 11}, {'a': 12}, {'b': 13}, {}] </a:t>
            </a:r>
          </a:p>
          <a:p>
            <a:endParaRPr lang="de-DE" dirty="0">
              <a:solidFill>
                <a:schemeClr val="bg1"/>
              </a:solidFill>
            </a:endParaRPr>
          </a:p>
          <a:p>
            <a:r>
              <a:rPr lang="de-DE" dirty="0">
                <a:solidFill>
                  <a:schemeClr val="bg1"/>
                </a:solidFill>
              </a:rPr>
              <a:t>[-1, -1, -1, -1, -1, -1, -1, -1, -1, -1, -1, -1, -1, -1]          [-1, 0, 7, 8, 9, 10, 0, 0, 1, 2, 3, 4, 5, 11]</a:t>
            </a:r>
          </a:p>
          <a:p>
            <a:r>
              <a:rPr lang="de-DE" dirty="0">
                <a:solidFill>
                  <a:schemeClr val="bg1"/>
                </a:solidFill>
              </a:rPr>
              <a:t>[[], [], [2], [], [], [], [0], [], [], [3], [], [], [], [1]]             [[], [], [2], [], [3, 2], [], [0], [], [], [3, 2], [], [3, 2], [], [1, 3, 2]]</a:t>
            </a:r>
          </a:p>
        </p:txBody>
      </p:sp>
    </p:spTree>
    <p:extLst>
      <p:ext uri="{BB962C8B-B14F-4D97-AF65-F5344CB8AC3E}">
        <p14:creationId xmlns:p14="http://schemas.microsoft.com/office/powerpoint/2010/main" val="2894148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3793" y="302266"/>
            <a:ext cx="256512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rPr lang="ru-RU" dirty="0"/>
              <a:t>Алгоритм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hlinkClick r:id="rId3"/>
            <a:extLst>
              <a:ext uri="{FF2B5EF4-FFF2-40B4-BE49-F238E27FC236}">
                <a16:creationId xmlns:a16="http://schemas.microsoft.com/office/drawing/2014/main" id="{E228DE5C-9EEF-2AA8-647C-2AB7FEE739A9}"/>
              </a:ext>
            </a:extLst>
          </p:cNvPr>
          <p:cNvSpPr txBox="1"/>
          <p:nvPr/>
        </p:nvSpPr>
        <p:spPr>
          <a:xfrm>
            <a:off x="240893" y="7200539"/>
            <a:ext cx="45892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rPr lang="ru-RU" dirty="0" err="1">
                <a:solidFill>
                  <a:schemeClr val="tx1">
                    <a:lumMod val="95000"/>
                    <a:lumOff val="5000"/>
                  </a:schemeClr>
                </a:solidFill>
                <a:hlinkClick r:id="rId4"/>
              </a:rPr>
              <a:t>Ахо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hlinkClick r:id="rId4"/>
              </a:rPr>
              <a:t>-Карасик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2293BE-E788-6791-1B88-5E33F8F5ABC5}"/>
              </a:ext>
            </a:extLst>
          </p:cNvPr>
          <p:cNvSpPr txBox="1"/>
          <p:nvPr/>
        </p:nvSpPr>
        <p:spPr>
          <a:xfrm>
            <a:off x="941294" y="686986"/>
            <a:ext cx="13011374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sz="2800" dirty="0"/>
          </a:p>
          <a:p>
            <a:r>
              <a:rPr lang="ru-RU" sz="2800" dirty="0" err="1"/>
              <a:t>search</a:t>
            </a:r>
            <a:r>
              <a:rPr lang="ru-RU" sz="2800" dirty="0"/>
              <a:t> (поиск всех вхождений):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</a:t>
            </a:r>
            <a:r>
              <a:rPr lang="ru-RU" sz="2800" dirty="0"/>
              <a:t>Начинаем поиск из корня автомата (состояния 0).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</a:t>
            </a:r>
            <a:r>
              <a:rPr lang="ru-RU" sz="2800" dirty="0"/>
              <a:t>Для каждого символа текста: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800" dirty="0"/>
              <a:t>Пока из текущего состояния нет перехода по символу, переходим по </a:t>
            </a:r>
            <a:r>
              <a:rPr lang="ru-RU" sz="2800" dirty="0" err="1"/>
              <a:t>суффиксным</a:t>
            </a:r>
            <a:r>
              <a:rPr lang="ru-RU" sz="2800" dirty="0"/>
              <a:t> ссылкам.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800" dirty="0"/>
              <a:t>Если после перехода по символу состояние недействительно (например, -1), возвращаемся в корень.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800" dirty="0"/>
              <a:t>Для текущего состояния перебираем все соответствующие в выходных состояниях шаблоны.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2800" dirty="0"/>
              <a:t>Для каждого шаблона вычисляем позицию вхождения (индекс символа в тексте минус длина шаблона плюс 1) и добавляем в результат.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 </a:t>
            </a:r>
            <a:r>
              <a:rPr lang="ru-RU" sz="2800" dirty="0"/>
              <a:t>В конце возвращаем словарь всех найденных шаблонов и списков их позиций в тексте.</a:t>
            </a:r>
          </a:p>
        </p:txBody>
      </p:sp>
    </p:spTree>
    <p:extLst>
      <p:ext uri="{BB962C8B-B14F-4D97-AF65-F5344CB8AC3E}">
        <p14:creationId xmlns:p14="http://schemas.microsoft.com/office/powerpoint/2010/main" val="1880790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3793" y="302266"/>
            <a:ext cx="385490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rPr lang="ru-RU" dirty="0"/>
              <a:t>Пример ответа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hlinkClick r:id="rId3"/>
            <a:extLst>
              <a:ext uri="{FF2B5EF4-FFF2-40B4-BE49-F238E27FC236}">
                <a16:creationId xmlns:a16="http://schemas.microsoft.com/office/drawing/2014/main" id="{E228DE5C-9EEF-2AA8-647C-2AB7FEE739A9}"/>
              </a:ext>
            </a:extLst>
          </p:cNvPr>
          <p:cNvSpPr txBox="1"/>
          <p:nvPr/>
        </p:nvSpPr>
        <p:spPr>
          <a:xfrm>
            <a:off x="326954" y="6664762"/>
            <a:ext cx="45892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>
                <a:solidFill>
                  <a:srgbClr val="FFFFFF"/>
                </a:solidFill>
              </a:defRPr>
            </a:pPr>
            <a:r>
              <a:rPr lang="ru-RU" dirty="0" err="1">
                <a:solidFill>
                  <a:schemeClr val="tx1">
                    <a:lumMod val="95000"/>
                    <a:lumOff val="5000"/>
                  </a:schemeClr>
                </a:solidFill>
                <a:hlinkClick r:id="rId4"/>
              </a:rPr>
              <a:t>Ахо</a:t>
            </a:r>
            <a:r>
              <a:rPr lang="ru-RU" dirty="0">
                <a:solidFill>
                  <a:schemeClr val="tx1">
                    <a:lumMod val="95000"/>
                    <a:lumOff val="5000"/>
                  </a:schemeClr>
                </a:solidFill>
                <a:hlinkClick r:id="rId4"/>
              </a:rPr>
              <a:t>-Карасик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2293BE-E788-6791-1B88-5E33F8F5ABC5}"/>
              </a:ext>
            </a:extLst>
          </p:cNvPr>
          <p:cNvSpPr txBox="1"/>
          <p:nvPr/>
        </p:nvSpPr>
        <p:spPr>
          <a:xfrm>
            <a:off x="326954" y="2086312"/>
            <a:ext cx="1216267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dirty="0" err="1"/>
              <a:t>defaultdict</a:t>
            </a:r>
            <a:r>
              <a:rPr lang="de-DE" sz="2800" dirty="0"/>
              <a:t>(&lt;</a:t>
            </a:r>
            <a:r>
              <a:rPr lang="de-DE" sz="2800" dirty="0" err="1"/>
              <a:t>class</a:t>
            </a:r>
            <a:r>
              <a:rPr lang="de-DE" sz="2800" dirty="0"/>
              <a:t> '</a:t>
            </a:r>
            <a:r>
              <a:rPr lang="de-DE" sz="2800" dirty="0" err="1"/>
              <a:t>list</a:t>
            </a:r>
            <a:r>
              <a:rPr lang="de-DE" sz="2800" dirty="0"/>
              <a:t>'&gt;, {'ab': [0, 2, 4, 6, 11, 13, 15], '</a:t>
            </a:r>
            <a:r>
              <a:rPr lang="de-DE" sz="2800" dirty="0" err="1"/>
              <a:t>bab</a:t>
            </a:r>
            <a:r>
              <a:rPr lang="de-DE" sz="2800" dirty="0"/>
              <a:t>': [1, 3, 5, 10, 12, 14], '</a:t>
            </a:r>
            <a:r>
              <a:rPr lang="de-DE" sz="2800" dirty="0" err="1"/>
              <a:t>bababab</a:t>
            </a:r>
            <a:r>
              <a:rPr lang="de-DE" sz="2800" dirty="0"/>
              <a:t>': [1, 10], '</a:t>
            </a:r>
            <a:r>
              <a:rPr lang="de-DE" sz="2800" dirty="0" err="1"/>
              <a:t>ababac</a:t>
            </a:r>
            <a:r>
              <a:rPr lang="de-DE" sz="2800" dirty="0"/>
              <a:t>': [4]})</a:t>
            </a:r>
            <a:endParaRPr lang="ru-RU" sz="2800" dirty="0"/>
          </a:p>
          <a:p>
            <a:endParaRPr lang="ru-RU" sz="2800" dirty="0"/>
          </a:p>
          <a:p>
            <a:r>
              <a:rPr lang="ru-RU" sz="2800" dirty="0"/>
              <a:t>Паттерн '</a:t>
            </a:r>
            <a:r>
              <a:rPr lang="ru-RU" sz="2800" dirty="0" err="1"/>
              <a:t>ab</a:t>
            </a:r>
            <a:r>
              <a:rPr lang="ru-RU" sz="2800" dirty="0"/>
              <a:t>' найден на позициях [0, 2, 4, 6, 11, 13, 15]</a:t>
            </a:r>
          </a:p>
          <a:p>
            <a:r>
              <a:rPr lang="ru-RU" sz="2800" dirty="0"/>
              <a:t>Паттерн '</a:t>
            </a:r>
            <a:r>
              <a:rPr lang="ru-RU" sz="2800" dirty="0" err="1"/>
              <a:t>bab</a:t>
            </a:r>
            <a:r>
              <a:rPr lang="ru-RU" sz="2800" dirty="0"/>
              <a:t>' найден на позициях [1, 3, 5, 10, 12, 14]  </a:t>
            </a:r>
          </a:p>
          <a:p>
            <a:r>
              <a:rPr lang="ru-RU" sz="2800" dirty="0"/>
              <a:t>Паттерн '</a:t>
            </a:r>
            <a:r>
              <a:rPr lang="ru-RU" sz="2800" dirty="0" err="1"/>
              <a:t>bababab</a:t>
            </a:r>
            <a:r>
              <a:rPr lang="ru-RU" sz="2800" dirty="0"/>
              <a:t>' найден на позициях [1, 10]</a:t>
            </a:r>
          </a:p>
          <a:p>
            <a:r>
              <a:rPr lang="ru-RU" sz="2800" dirty="0"/>
              <a:t>Паттерн '</a:t>
            </a:r>
            <a:r>
              <a:rPr lang="ru-RU" sz="2800" dirty="0" err="1"/>
              <a:t>ababac</a:t>
            </a:r>
            <a:r>
              <a:rPr lang="ru-RU" sz="2800" dirty="0"/>
              <a:t>' найден на позициях [4]</a:t>
            </a:r>
          </a:p>
        </p:txBody>
      </p:sp>
    </p:spTree>
    <p:extLst>
      <p:ext uri="{BB962C8B-B14F-4D97-AF65-F5344CB8AC3E}">
        <p14:creationId xmlns:p14="http://schemas.microsoft.com/office/powerpoint/2010/main" val="1223375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6099C-598E-47B3-EDE4-26ECC9DB1A27}"/>
              </a:ext>
            </a:extLst>
          </p:cNvPr>
          <p:cNvSpPr txBox="1"/>
          <p:nvPr/>
        </p:nvSpPr>
        <p:spPr>
          <a:xfrm>
            <a:off x="-148878" y="261610"/>
            <a:ext cx="53753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</a:rPr>
              <a:t>Попробуем реализовать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DD5DBA-565E-AA92-2E42-624320BB82C5}"/>
              </a:ext>
            </a:extLst>
          </p:cNvPr>
          <p:cNvSpPr txBox="1"/>
          <p:nvPr/>
        </p:nvSpPr>
        <p:spPr>
          <a:xfrm>
            <a:off x="720762" y="1271551"/>
            <a:ext cx="1177962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collections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deque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defaultdict</a:t>
            </a:r>
            <a:endParaRPr lang="de-D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build_trie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patterns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...</a:t>
            </a:r>
          </a:p>
          <a:p>
            <a:b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build_automaton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edges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fail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...</a:t>
            </a:r>
          </a:p>
          <a:p>
            <a:b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search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edges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fail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patterns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...</a:t>
            </a:r>
          </a:p>
          <a:p>
            <a:b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Пример использования: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patterns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ababac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bababab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"ab"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bab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ababababacbababab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edges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fail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build_trie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patterns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de-DE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Строим бор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build_automaton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edges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fail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     </a:t>
            </a:r>
            <a:r>
              <a:rPr lang="de-DE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Строим </a:t>
            </a:r>
            <a:r>
              <a:rPr lang="ru-RU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суффиксные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ссылки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matches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search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edges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fail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output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patterns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de-DE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Ищем вхождения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pattern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positions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matches</a:t>
            </a:r>
            <a:r>
              <a:rPr lang="de-DE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.items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Паттерн '</a:t>
            </a:r>
            <a:r>
              <a:rPr lang="ru-RU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pattern</a:t>
            </a:r>
            <a:r>
              <a:rPr lang="de-DE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 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найден на позициях </a:t>
            </a:r>
            <a:r>
              <a:rPr lang="ru-RU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positions</a:t>
            </a:r>
            <a:r>
              <a:rPr lang="de-DE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de-DE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de-D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402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2358</TotalTime>
  <Words>1765</Words>
  <Application>Microsoft Office PowerPoint</Application>
  <PresentationFormat>Произвольный</PresentationFormat>
  <Paragraphs>148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Илья Паньковский</dc:creator>
  <cp:keywords/>
  <dc:description>generated using python-pptx</dc:description>
  <cp:lastModifiedBy>Илья Паньковский</cp:lastModifiedBy>
  <cp:revision>354</cp:revision>
  <dcterms:created xsi:type="dcterms:W3CDTF">2013-01-27T09:14:16Z</dcterms:created>
  <dcterms:modified xsi:type="dcterms:W3CDTF">2025-11-29T21:36:57Z</dcterms:modified>
  <cp:category/>
</cp:coreProperties>
</file>