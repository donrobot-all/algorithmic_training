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304" r:id="rId4"/>
    <p:sldId id="305" r:id="rId5"/>
    <p:sldId id="298" r:id="rId6"/>
    <p:sldId id="306" r:id="rId7"/>
    <p:sldId id="307" r:id="rId8"/>
    <p:sldId id="310" r:id="rId9"/>
    <p:sldId id="308" r:id="rId10"/>
    <p:sldId id="311" r:id="rId1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29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9" autoAdjust="0"/>
    <p:restoredTop sz="94844" autoAdjust="0"/>
  </p:normalViewPr>
  <p:slideViewPr>
    <p:cSldViewPr snapToGrid="0" snapToObjects="1">
      <p:cViewPr varScale="1">
        <p:scale>
          <a:sx n="89" d="100"/>
          <a:sy n="89" d="100"/>
        </p:scale>
        <p:origin x="101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longest-happy-prefix/description/" TargetMode="External"/><Relationship Id="rId2" Type="http://schemas.openxmlformats.org/officeDocument/2006/relationships/hyperlink" Target="https://wordwall.net/ru/resource/23039884/%D0%BB%D0%BE%D0%B3%D0%B0%D1%80%D0%B8%D1%84%D0%BC%D1%8B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leetcode.com/problems/shortest-palindrome/descrip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410584" y="335778"/>
            <a:ext cx="125226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de-DE" sz="4400" dirty="0">
                <a:solidFill>
                  <a:schemeClr val="bg1"/>
                </a:solidFill>
              </a:rPr>
              <a:t>KMP</a:t>
            </a:r>
            <a:endParaRPr lang="ru-RU" sz="4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3943" y="285886"/>
            <a:ext cx="1121037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b="1" dirty="0"/>
              <a:t>Алгоритм Кнута — Морриса — Пратта (KMP)</a:t>
            </a:r>
            <a:r>
              <a:rPr lang="ru-RU" dirty="0"/>
              <a:t> 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57431" y="1561089"/>
            <a:ext cx="122314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Поиск подстроки в строке — одна из фундаментальных задач в информатике, которая возникает во множестве приложений: от текстовых редакторов до биоинформатики.</a:t>
            </a:r>
          </a:p>
          <a:p>
            <a:pPr algn="ctr"/>
            <a:r>
              <a:rPr lang="ru-RU" sz="2800" dirty="0"/>
              <a:t>Наивный подход к решению этой задачи имеет временную сложность O(</a:t>
            </a:r>
            <a:r>
              <a:rPr lang="ru-RU" sz="2800" dirty="0" err="1"/>
              <a:t>n×m</a:t>
            </a:r>
            <a:r>
              <a:rPr lang="ru-RU" sz="2800" dirty="0"/>
              <a:t>), где n — длина текста, m — длина образца. Однако КМП выполняет поиск за O(</a:t>
            </a:r>
            <a:r>
              <a:rPr lang="ru-RU" sz="2800" dirty="0" err="1"/>
              <a:t>n+m</a:t>
            </a:r>
            <a:r>
              <a:rPr lang="ru-RU" sz="2800" dirty="0"/>
              <a:t>), существенно ускоряя процесс для больших текстов.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6C8D5-71D1-1D65-F038-409582E10C16}"/>
              </a:ext>
            </a:extLst>
          </p:cNvPr>
          <p:cNvSpPr txBox="1"/>
          <p:nvPr/>
        </p:nvSpPr>
        <p:spPr>
          <a:xfrm rot="1025330">
            <a:off x="10651784" y="5766575"/>
            <a:ext cx="38189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/>
              <a:t>один из первых линейных алгоритмов поиска подстрок в строке. Разработан Дональдом Кнутом, Воаном Праттом и Джеймсом Моррисом в 1977 году.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399" y="231559"/>
            <a:ext cx="381136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Зачем он нам?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31971" y="1664410"/>
            <a:ext cx="78332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 err="1"/>
              <a:t>Ахо-Корасик</a:t>
            </a:r>
            <a:r>
              <a:rPr lang="ru-RU" sz="2800" dirty="0"/>
              <a:t> — это Бор + KMP на дереве.</a:t>
            </a:r>
          </a:p>
          <a:p>
            <a:pPr algn="ctr"/>
            <a:endParaRPr sz="2800"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E9D95623-7E9E-9280-BA76-CE03F5673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950865"/>
              </p:ext>
            </p:extLst>
          </p:nvPr>
        </p:nvGraphicFramePr>
        <p:xfrm>
          <a:off x="3200400" y="2703514"/>
          <a:ext cx="8229600" cy="23774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6783725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195923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e-DE"/>
                        <a:t>KMP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Ахо–Корасик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493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l-GR"/>
                        <a:t>π-</a:t>
                      </a:r>
                      <a:r>
                        <a:rPr lang="ru-RU"/>
                        <a:t>функция (массив откатов)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суффиксные ссылки (</a:t>
                      </a:r>
                      <a:r>
                        <a:rPr lang="de-DE"/>
                        <a:t>fail-links)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693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Откат при несовпадении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Переход по fail-link при отсутствии ребра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54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Работает для одного шаблона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Работает для множества шаблонов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791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Линейное время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Линейное + количество найденных совпадений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0064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830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68767" y="274320"/>
            <a:ext cx="666951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Ключевая идея алгоритма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A8A294-EF3A-D2B8-CA62-0581E4018453}"/>
              </a:ext>
            </a:extLst>
          </p:cNvPr>
          <p:cNvSpPr txBox="1"/>
          <p:nvPr/>
        </p:nvSpPr>
        <p:spPr>
          <a:xfrm>
            <a:off x="1363532" y="1139020"/>
            <a:ext cx="1190333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Основное преимущество KMP перед наивным подходом заключается в том, что алгоритм никогда не возвращается назад в тексте, а использует знания о структуре образца для "умных" сдвигов.</a:t>
            </a:r>
          </a:p>
          <a:p>
            <a:pPr algn="ctr"/>
            <a:r>
              <a:rPr lang="ru-RU" sz="2800" dirty="0">
                <a:solidFill>
                  <a:schemeClr val="bg1"/>
                </a:solidFill>
              </a:rPr>
              <a:t>Когда происходит несовпадение при сравнении текста и образца, наивный алгоритм начинает сравнение заново со следующей позиции в тексте. KMP же использует префикс-функцию образца, чтобы определить, насколько можно сдвинуть образец, не возвращаясь назад в тексте.</a:t>
            </a:r>
          </a:p>
        </p:txBody>
      </p:sp>
    </p:spTree>
    <p:extLst>
      <p:ext uri="{BB962C8B-B14F-4D97-AF65-F5344CB8AC3E}">
        <p14:creationId xmlns:p14="http://schemas.microsoft.com/office/powerpoint/2010/main" val="2612009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05389" y="259882"/>
            <a:ext cx="272703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Например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A4999F-E5E6-C42D-810D-363760847A89}"/>
              </a:ext>
            </a:extLst>
          </p:cNvPr>
          <p:cNvSpPr txBox="1"/>
          <p:nvPr/>
        </p:nvSpPr>
        <p:spPr>
          <a:xfrm>
            <a:off x="628288" y="1361442"/>
            <a:ext cx="94606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Текст:    </a:t>
            </a:r>
            <a:r>
              <a:rPr lang="de-DE" sz="2800" dirty="0"/>
              <a:t>ABC ABCDAB ABCDABCDABDE</a:t>
            </a:r>
            <a:endParaRPr lang="ru-RU" sz="2800" dirty="0"/>
          </a:p>
          <a:p>
            <a:r>
              <a:rPr lang="ru-RU" sz="2800" dirty="0"/>
              <a:t>Шаблон:            </a:t>
            </a:r>
            <a:r>
              <a:rPr lang="de-DE" sz="2800" dirty="0"/>
              <a:t>ABCDABD</a:t>
            </a:r>
            <a:endParaRPr lang="ru-R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3276C-2FC6-2EFE-3B56-5EAF08D27658}"/>
              </a:ext>
            </a:extLst>
          </p:cNvPr>
          <p:cNvSpPr txBox="1"/>
          <p:nvPr/>
        </p:nvSpPr>
        <p:spPr>
          <a:xfrm>
            <a:off x="628288" y="2444193"/>
            <a:ext cx="1171611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Нативный (прямой) алгоритм поиска</a:t>
            </a:r>
          </a:p>
          <a:p>
            <a:r>
              <a:rPr lang="ru-RU" sz="2800" dirty="0"/>
              <a:t>Идея</a:t>
            </a:r>
          </a:p>
          <a:p>
            <a:r>
              <a:rPr lang="ru-RU" sz="2800" dirty="0"/>
              <a:t>Пробуем начать сравнение шаблона в каждой возможной позиции текста.</a:t>
            </a:r>
            <a:br>
              <a:rPr lang="ru-RU" sz="2800" dirty="0"/>
            </a:br>
            <a:r>
              <a:rPr lang="ru-RU" sz="2800" dirty="0"/>
              <a:t>Если где-то не совпало — сдвигаем шаблон вправо на 1 и снова сравниваем заново.</a:t>
            </a:r>
          </a:p>
          <a:p>
            <a:r>
              <a:rPr lang="ru-RU" sz="2800" dirty="0"/>
              <a:t>Время: Худший случай: O(n * m)</a:t>
            </a:r>
          </a:p>
          <a:p>
            <a:r>
              <a:rPr lang="ru-RU" sz="2800" dirty="0"/>
              <a:t>Где:</a:t>
            </a:r>
          </a:p>
          <a:p>
            <a:r>
              <a:rPr lang="ru-RU" sz="2800" dirty="0"/>
              <a:t>n — длина текста</a:t>
            </a:r>
          </a:p>
          <a:p>
            <a:r>
              <a:rPr lang="ru-RU" sz="2800" dirty="0"/>
              <a:t>m — длина шаблона</a:t>
            </a:r>
          </a:p>
          <a:p>
            <a:r>
              <a:rPr lang="ru-RU" sz="2800" dirty="0"/>
              <a:t>Пример худшего случая: </a:t>
            </a:r>
          </a:p>
          <a:p>
            <a:r>
              <a:rPr lang="ru-RU" sz="2800" dirty="0"/>
              <a:t>Текст</a:t>
            </a:r>
            <a:r>
              <a:rPr lang="de-DE" sz="2800" dirty="0"/>
              <a:t> = "AAAAAAAAAAAAAAAA "</a:t>
            </a:r>
            <a:endParaRPr lang="ru-RU" sz="2800" dirty="0"/>
          </a:p>
          <a:p>
            <a:r>
              <a:rPr lang="ru-RU" sz="2800" dirty="0"/>
              <a:t>Шаблон</a:t>
            </a:r>
            <a:r>
              <a:rPr lang="de-DE" sz="2800" dirty="0"/>
              <a:t> = "AAAAAAAAB"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993972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787102" y="335778"/>
            <a:ext cx="607082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Кнут — Моррис — Пратт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13F2EE-082F-3D64-0707-610E55007F80}"/>
              </a:ext>
            </a:extLst>
          </p:cNvPr>
          <p:cNvSpPr txBox="1"/>
          <p:nvPr/>
        </p:nvSpPr>
        <p:spPr>
          <a:xfrm>
            <a:off x="747656" y="1324735"/>
            <a:ext cx="1159674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KMP не начинает сравнение заново, а использует уже известную информацию о совпавшей части.</a:t>
            </a:r>
          </a:p>
          <a:p>
            <a:pPr algn="ctr"/>
            <a:r>
              <a:rPr lang="ru-RU" sz="2800" dirty="0">
                <a:solidFill>
                  <a:schemeClr val="bg1"/>
                </a:solidFill>
              </a:rPr>
              <a:t>Чтобы это сделать, сначала строится таблица «π-функции» (</a:t>
            </a:r>
            <a:r>
              <a:rPr lang="ru-RU" sz="2800" dirty="0" err="1">
                <a:solidFill>
                  <a:schemeClr val="bg1"/>
                </a:solidFill>
              </a:rPr>
              <a:t>prefix-function</a:t>
            </a:r>
            <a:r>
              <a:rPr lang="ru-RU" sz="2800" dirty="0">
                <a:solidFill>
                  <a:schemeClr val="bg1"/>
                </a:solidFill>
              </a:rPr>
              <a:t>, LPS) — она показывает, куда можно откатиться в случае несовпадения.</a:t>
            </a:r>
          </a:p>
          <a:p>
            <a:pPr algn="just"/>
            <a:endParaRPr lang="ru-RU" sz="2800" dirty="0">
              <a:solidFill>
                <a:schemeClr val="bg1"/>
              </a:solidFill>
            </a:endParaRP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Текст</a:t>
            </a:r>
            <a:r>
              <a:rPr lang="de-DE" sz="2800" dirty="0">
                <a:solidFill>
                  <a:schemeClr val="bg1"/>
                </a:solidFill>
              </a:rPr>
              <a:t>    = "ABABABABAC "</a:t>
            </a:r>
            <a:endParaRPr lang="ru-RU" sz="2800" dirty="0">
              <a:solidFill>
                <a:schemeClr val="bg1"/>
              </a:solidFill>
            </a:endParaRP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Шаблон</a:t>
            </a:r>
            <a:r>
              <a:rPr lang="de-DE" sz="2800" dirty="0">
                <a:solidFill>
                  <a:schemeClr val="bg1"/>
                </a:solidFill>
              </a:rPr>
              <a:t> = "ABABAC "</a:t>
            </a:r>
            <a:endParaRPr lang="ru-RU" sz="2800" dirty="0">
              <a:solidFill>
                <a:schemeClr val="bg1"/>
              </a:solidFill>
            </a:endParaRPr>
          </a:p>
          <a:p>
            <a:pPr algn="just"/>
            <a:endParaRPr lang="ru-RU" sz="2800" dirty="0">
              <a:solidFill>
                <a:schemeClr val="bg1"/>
              </a:solidFill>
            </a:endParaRP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Он </a:t>
            </a:r>
            <a:r>
              <a:rPr lang="ru-RU" sz="2800" dirty="0" err="1">
                <a:solidFill>
                  <a:schemeClr val="bg1"/>
                </a:solidFill>
              </a:rPr>
              <a:t>переиспользует</a:t>
            </a:r>
            <a:r>
              <a:rPr lang="ru-RU" sz="2800" dirty="0">
                <a:solidFill>
                  <a:schemeClr val="bg1"/>
                </a:solidFill>
              </a:rPr>
              <a:t> факт, что "ABAB" совпало, и знает, что можно откатиться не на начало, а на индекс 2 шаблона (по префикс-функции).</a:t>
            </a:r>
          </a:p>
        </p:txBody>
      </p:sp>
    </p:spTree>
    <p:extLst>
      <p:ext uri="{BB962C8B-B14F-4D97-AF65-F5344CB8AC3E}">
        <p14:creationId xmlns:p14="http://schemas.microsoft.com/office/powerpoint/2010/main" val="750037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3793" y="302266"/>
            <a:ext cx="98937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de-DE" dirty="0"/>
              <a:t>LPS</a:t>
            </a:r>
            <a:endParaRPr lang="ru-RU"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750A6-580B-43FF-F7AE-F1D4B9CEF67E}"/>
              </a:ext>
            </a:extLst>
          </p:cNvPr>
          <p:cNvSpPr txBox="1"/>
          <p:nvPr/>
        </p:nvSpPr>
        <p:spPr>
          <a:xfrm>
            <a:off x="763793" y="1337817"/>
            <a:ext cx="12695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Пример построения префикс-функции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34B404-E3F4-4112-BBFE-5B671ED1360D}"/>
              </a:ext>
            </a:extLst>
          </p:cNvPr>
          <p:cNvSpPr txBox="1"/>
          <p:nvPr/>
        </p:nvSpPr>
        <p:spPr>
          <a:xfrm>
            <a:off x="763793" y="2007572"/>
            <a:ext cx="1199477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Рассмотрим образец </a:t>
            </a:r>
            <a:r>
              <a:rPr lang="de-DE" sz="2800" dirty="0"/>
              <a:t>P = "ABABAC".</a:t>
            </a:r>
          </a:p>
          <a:p>
            <a:pPr>
              <a:buFont typeface="+mj-lt"/>
              <a:buAutoNum type="arabicPeriod"/>
            </a:pPr>
            <a:r>
              <a:rPr lang="el-GR" sz="2800" dirty="0"/>
              <a:t>π[0] = 0 (</a:t>
            </a:r>
            <a:r>
              <a:rPr lang="ru-RU" sz="2800" dirty="0"/>
              <a:t>у первого символа нет собственных префиксов)</a:t>
            </a:r>
          </a:p>
          <a:p>
            <a:pPr>
              <a:buFont typeface="+mj-lt"/>
              <a:buAutoNum type="arabicPeriod"/>
            </a:pPr>
            <a:r>
              <a:rPr lang="el-GR" sz="2800" dirty="0"/>
              <a:t>π[1] = 0 (</a:t>
            </a:r>
            <a:r>
              <a:rPr lang="ru-RU" sz="2800" dirty="0"/>
              <a:t>у "</a:t>
            </a:r>
            <a:r>
              <a:rPr lang="de-DE" sz="2800" dirty="0"/>
              <a:t>AB" </a:t>
            </a:r>
            <a:r>
              <a:rPr lang="ru-RU" sz="2800" dirty="0"/>
              <a:t>нет собственного префикса, который является суффиксом)</a:t>
            </a:r>
          </a:p>
          <a:p>
            <a:pPr>
              <a:buFont typeface="+mj-lt"/>
              <a:buAutoNum type="arabicPeriod"/>
            </a:pPr>
            <a:r>
              <a:rPr lang="el-GR" sz="2800" dirty="0"/>
              <a:t>π[2] = 1 (</a:t>
            </a:r>
            <a:r>
              <a:rPr lang="ru-RU" sz="2800" dirty="0"/>
              <a:t>у "</a:t>
            </a:r>
            <a:r>
              <a:rPr lang="de-DE" sz="2800" dirty="0"/>
              <a:t>ABA" </a:t>
            </a:r>
            <a:r>
              <a:rPr lang="ru-RU" sz="2800" dirty="0"/>
              <a:t>префикс "</a:t>
            </a:r>
            <a:r>
              <a:rPr lang="de-DE" sz="2800" dirty="0"/>
              <a:t>A" </a:t>
            </a:r>
            <a:r>
              <a:rPr lang="ru-RU" sz="2800" dirty="0"/>
              <a:t>совпадает с суффиксом "</a:t>
            </a:r>
            <a:r>
              <a:rPr lang="de-DE" sz="2800" dirty="0"/>
              <a:t>A")</a:t>
            </a:r>
          </a:p>
          <a:p>
            <a:pPr>
              <a:buFont typeface="+mj-lt"/>
              <a:buAutoNum type="arabicPeriod"/>
            </a:pPr>
            <a:r>
              <a:rPr lang="el-GR" sz="2800" dirty="0"/>
              <a:t>π[3] = 2 (</a:t>
            </a:r>
            <a:r>
              <a:rPr lang="ru-RU" sz="2800" dirty="0"/>
              <a:t>у "</a:t>
            </a:r>
            <a:r>
              <a:rPr lang="de-DE" sz="2800" dirty="0"/>
              <a:t>ABAB" </a:t>
            </a:r>
            <a:r>
              <a:rPr lang="ru-RU" sz="2800" dirty="0"/>
              <a:t>префикс "</a:t>
            </a:r>
            <a:r>
              <a:rPr lang="de-DE" sz="2800" dirty="0"/>
              <a:t>AB" </a:t>
            </a:r>
            <a:r>
              <a:rPr lang="ru-RU" sz="2800" dirty="0"/>
              <a:t>совпадает с суффиксом "</a:t>
            </a:r>
            <a:r>
              <a:rPr lang="de-DE" sz="2800" dirty="0"/>
              <a:t>AB")</a:t>
            </a:r>
          </a:p>
          <a:p>
            <a:pPr>
              <a:buFont typeface="+mj-lt"/>
              <a:buAutoNum type="arabicPeriod"/>
            </a:pPr>
            <a:r>
              <a:rPr lang="el-GR" sz="2800" dirty="0"/>
              <a:t>π[4] = 3 (</a:t>
            </a:r>
            <a:r>
              <a:rPr lang="ru-RU" sz="2800" dirty="0"/>
              <a:t>у "</a:t>
            </a:r>
            <a:r>
              <a:rPr lang="de-DE" sz="2800" dirty="0"/>
              <a:t>ABABA" </a:t>
            </a:r>
            <a:r>
              <a:rPr lang="ru-RU" sz="2800" dirty="0"/>
              <a:t>префикс "</a:t>
            </a:r>
            <a:r>
              <a:rPr lang="de-DE" sz="2800" dirty="0"/>
              <a:t>ABA" </a:t>
            </a:r>
            <a:r>
              <a:rPr lang="ru-RU" sz="2800" dirty="0"/>
              <a:t>совпадает с суффиксом "</a:t>
            </a:r>
            <a:r>
              <a:rPr lang="de-DE" sz="2800" dirty="0"/>
              <a:t>ABA")</a:t>
            </a:r>
          </a:p>
          <a:p>
            <a:pPr>
              <a:buFont typeface="+mj-lt"/>
              <a:buAutoNum type="arabicPeriod"/>
            </a:pPr>
            <a:r>
              <a:rPr lang="el-GR" sz="2800" dirty="0"/>
              <a:t>π[5] = 0 (</a:t>
            </a:r>
            <a:r>
              <a:rPr lang="ru-RU" sz="2800" dirty="0"/>
              <a:t>у "</a:t>
            </a:r>
            <a:r>
              <a:rPr lang="de-DE" sz="2800" dirty="0"/>
              <a:t>ABABAC" </a:t>
            </a:r>
            <a:r>
              <a:rPr lang="ru-RU" sz="2800" dirty="0"/>
              <a:t>нет собственного префикса, который является суффиксом)</a:t>
            </a:r>
          </a:p>
          <a:p>
            <a:r>
              <a:rPr lang="ru-RU" sz="2800" dirty="0"/>
              <a:t>Получаем </a:t>
            </a:r>
            <a:r>
              <a:rPr lang="el-GR" sz="2800" dirty="0"/>
              <a:t>π = [0, 0, 1, 2, 3, 0].</a:t>
            </a:r>
          </a:p>
        </p:txBody>
      </p:sp>
    </p:spTree>
    <p:extLst>
      <p:ext uri="{BB962C8B-B14F-4D97-AF65-F5344CB8AC3E}">
        <p14:creationId xmlns:p14="http://schemas.microsoft.com/office/powerpoint/2010/main" val="4096983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6099C-598E-47B3-EDE4-26ECC9DB1A27}"/>
              </a:ext>
            </a:extLst>
          </p:cNvPr>
          <p:cNvSpPr txBox="1"/>
          <p:nvPr/>
        </p:nvSpPr>
        <p:spPr>
          <a:xfrm>
            <a:off x="-148878" y="261610"/>
            <a:ext cx="53753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Попробуем реализовать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DD5DBA-565E-AA92-2E42-624320BB82C5}"/>
              </a:ext>
            </a:extLst>
          </p:cNvPr>
          <p:cNvSpPr txBox="1"/>
          <p:nvPr/>
        </p:nvSpPr>
        <p:spPr>
          <a:xfrm>
            <a:off x="1651298" y="2342424"/>
            <a:ext cx="852543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compute_prefix_function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  . . . 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</a:t>
            </a:r>
            <a:endParaRPr lang="de-D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compute_prefix_function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'ABABAC‘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# 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[0, 0, 1, 2, 3, 0]</a:t>
            </a:r>
          </a:p>
          <a:p>
            <a:endParaRPr lang="de-D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690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2C98606A-F239-3A7C-2CE5-6711065FB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012529"/>
              </p:ext>
            </p:extLst>
          </p:nvPr>
        </p:nvGraphicFramePr>
        <p:xfrm>
          <a:off x="426721" y="386332"/>
          <a:ext cx="14020799" cy="7106643"/>
        </p:xfrm>
        <a:graphic>
          <a:graphicData uri="http://schemas.openxmlformats.org/drawingml/2006/table">
            <a:tbl>
              <a:tblPr/>
              <a:tblGrid>
                <a:gridCol w="810399">
                  <a:extLst>
                    <a:ext uri="{9D8B030D-6E8A-4147-A177-3AD203B41FA5}">
                      <a16:colId xmlns:a16="http://schemas.microsoft.com/office/drawing/2014/main" val="3578781715"/>
                    </a:ext>
                  </a:extLst>
                </a:gridCol>
                <a:gridCol w="541993">
                  <a:extLst>
                    <a:ext uri="{9D8B030D-6E8A-4147-A177-3AD203B41FA5}">
                      <a16:colId xmlns:a16="http://schemas.microsoft.com/office/drawing/2014/main" val="4023493462"/>
                    </a:ext>
                  </a:extLst>
                </a:gridCol>
                <a:gridCol w="676196">
                  <a:extLst>
                    <a:ext uri="{9D8B030D-6E8A-4147-A177-3AD203B41FA5}">
                      <a16:colId xmlns:a16="http://schemas.microsoft.com/office/drawing/2014/main" val="2035514963"/>
                    </a:ext>
                  </a:extLst>
                </a:gridCol>
                <a:gridCol w="1061439">
                  <a:extLst>
                    <a:ext uri="{9D8B030D-6E8A-4147-A177-3AD203B41FA5}">
                      <a16:colId xmlns:a16="http://schemas.microsoft.com/office/drawing/2014/main" val="1446997458"/>
                    </a:ext>
                  </a:extLst>
                </a:gridCol>
                <a:gridCol w="1091311">
                  <a:extLst>
                    <a:ext uri="{9D8B030D-6E8A-4147-A177-3AD203B41FA5}">
                      <a16:colId xmlns:a16="http://schemas.microsoft.com/office/drawing/2014/main" val="3337692522"/>
                    </a:ext>
                  </a:extLst>
                </a:gridCol>
                <a:gridCol w="2352139">
                  <a:extLst>
                    <a:ext uri="{9D8B030D-6E8A-4147-A177-3AD203B41FA5}">
                      <a16:colId xmlns:a16="http://schemas.microsoft.com/office/drawing/2014/main" val="2573792564"/>
                    </a:ext>
                  </a:extLst>
                </a:gridCol>
                <a:gridCol w="7487322">
                  <a:extLst>
                    <a:ext uri="{9D8B030D-6E8A-4147-A177-3AD203B41FA5}">
                      <a16:colId xmlns:a16="http://schemas.microsoft.com/office/drawing/2014/main" val="1673857273"/>
                    </a:ext>
                  </a:extLst>
                </a:gridCol>
              </a:tblGrid>
              <a:tr h="606572"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шаг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T[i]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j (</a:t>
                      </a:r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до)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 dirty="0">
                          <a:solidFill>
                            <a:schemeClr val="bg1"/>
                          </a:solidFill>
                        </a:rPr>
                        <a:t>P[j]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solidFill>
                            <a:schemeClr val="bg1"/>
                          </a:solidFill>
                        </a:rPr>
                        <a:t>совпадение?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solidFill>
                            <a:schemeClr val="bg1"/>
                          </a:solidFill>
                        </a:rPr>
                        <a:t>действие / комментарий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61650"/>
                  </a:ext>
                </a:extLst>
              </a:tr>
              <a:tr h="186638"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да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i=1, j=1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790111"/>
                  </a:ext>
                </a:extLst>
              </a:tr>
              <a:tr h="186638"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да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i=2, j=2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741078"/>
                  </a:ext>
                </a:extLst>
              </a:tr>
              <a:tr h="186638"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да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 dirty="0">
                          <a:solidFill>
                            <a:schemeClr val="bg1"/>
                          </a:solidFill>
                        </a:rPr>
                        <a:t>i=3, j=3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960775"/>
                  </a:ext>
                </a:extLst>
              </a:tr>
              <a:tr h="186638"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да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i=4, j=4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223980"/>
                  </a:ext>
                </a:extLst>
              </a:tr>
              <a:tr h="186638"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да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i=5, j=5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924419"/>
                  </a:ext>
                </a:extLst>
              </a:tr>
              <a:tr h="1026507"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нет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solidFill>
                            <a:schemeClr val="bg1"/>
                          </a:solidFill>
                        </a:rPr>
                        <a:t>j &gt; 0 → j = </a:t>
                      </a:r>
                      <a:r>
                        <a:rPr lang="ru-RU" sz="2800" dirty="0" err="1">
                          <a:solidFill>
                            <a:schemeClr val="bg1"/>
                          </a:solidFill>
                        </a:rPr>
                        <a:t>lps</a:t>
                      </a:r>
                      <a:r>
                        <a:rPr lang="ru-RU" sz="2800" dirty="0">
                          <a:solidFill>
                            <a:schemeClr val="bg1"/>
                          </a:solidFill>
                        </a:rPr>
                        <a:t>[5-1]=</a:t>
                      </a:r>
                      <a:r>
                        <a:rPr lang="ru-RU" sz="2800" dirty="0" err="1">
                          <a:solidFill>
                            <a:schemeClr val="bg1"/>
                          </a:solidFill>
                        </a:rPr>
                        <a:t>lps</a:t>
                      </a:r>
                      <a:r>
                        <a:rPr lang="ru-RU" sz="2800" dirty="0">
                          <a:solidFill>
                            <a:schemeClr val="bg1"/>
                          </a:solidFill>
                        </a:rPr>
                        <a:t>[4]=3. (важно: </a:t>
                      </a:r>
                      <a:r>
                        <a:rPr lang="ru-RU" sz="2800" b="1" dirty="0">
                          <a:solidFill>
                            <a:schemeClr val="bg1"/>
                          </a:solidFill>
                        </a:rPr>
                        <a:t>не</a:t>
                      </a:r>
                      <a:r>
                        <a:rPr lang="ru-RU" sz="2800" dirty="0">
                          <a:solidFill>
                            <a:schemeClr val="bg1"/>
                          </a:solidFill>
                        </a:rPr>
                        <a:t> увеличиваем i)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279395"/>
                  </a:ext>
                </a:extLst>
              </a:tr>
              <a:tr h="186638"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да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i=6, j=4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204369"/>
                  </a:ext>
                </a:extLst>
              </a:tr>
              <a:tr h="186638"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да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i=7, j=5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986650"/>
                  </a:ext>
                </a:extLst>
              </a:tr>
              <a:tr h="606572"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нет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j &gt; 0 → j = lps[5-1]=lps[4]=3. (</a:t>
                      </a:r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снова)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302473"/>
                  </a:ext>
                </a:extLst>
              </a:tr>
              <a:tr h="186638"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да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i=8, j=4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669870"/>
                  </a:ext>
                </a:extLst>
              </a:tr>
              <a:tr h="186638"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да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i=9, j=5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131819"/>
                  </a:ext>
                </a:extLst>
              </a:tr>
              <a:tr h="606572"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solidFill>
                            <a:schemeClr val="bg1"/>
                          </a:solidFill>
                        </a:rPr>
                        <a:t>да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800" dirty="0">
                          <a:solidFill>
                            <a:schemeClr val="bg1"/>
                          </a:solidFill>
                        </a:rPr>
                        <a:t>i=10, j=6 → j == m → </a:t>
                      </a:r>
                      <a:r>
                        <a:rPr lang="ru-RU" sz="2800" dirty="0">
                          <a:solidFill>
                            <a:schemeClr val="bg1"/>
                          </a:solidFill>
                        </a:rPr>
                        <a:t>найдено!</a:t>
                      </a:r>
                    </a:p>
                  </a:txBody>
                  <a:tcPr marL="46659" marR="46659" marT="23330" marB="23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3013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DCDA61B-6534-D6E6-CDCB-9FD0130CB5A5}"/>
              </a:ext>
            </a:extLst>
          </p:cNvPr>
          <p:cNvSpPr txBox="1"/>
          <p:nvPr/>
        </p:nvSpPr>
        <p:spPr>
          <a:xfrm rot="1074216">
            <a:off x="10814326" y="1212397"/>
            <a:ext cx="32843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i="1" dirty="0">
                <a:solidFill>
                  <a:schemeClr val="bg1"/>
                </a:solidFill>
              </a:rPr>
              <a:t>i (позиция в тексте), T[i], j (позиция в шаблоне перед сравнением), P[j], результат и действие).</a:t>
            </a:r>
          </a:p>
        </p:txBody>
      </p:sp>
    </p:spTree>
    <p:extLst>
      <p:ext uri="{BB962C8B-B14F-4D97-AF65-F5344CB8AC3E}">
        <p14:creationId xmlns:p14="http://schemas.microsoft.com/office/powerpoint/2010/main" val="2012921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6099C-598E-47B3-EDE4-26ECC9DB1A27}"/>
              </a:ext>
            </a:extLst>
          </p:cNvPr>
          <p:cNvSpPr txBox="1"/>
          <p:nvPr/>
        </p:nvSpPr>
        <p:spPr>
          <a:xfrm>
            <a:off x="-148878" y="261610"/>
            <a:ext cx="53753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Попробуем реализовать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DD5DBA-565E-AA92-2E42-624320BB82C5}"/>
              </a:ext>
            </a:extLst>
          </p:cNvPr>
          <p:cNvSpPr txBox="1"/>
          <p:nvPr/>
        </p:nvSpPr>
        <p:spPr>
          <a:xfrm>
            <a:off x="2538804" y="1718480"/>
            <a:ext cx="852543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kmp_search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…</a:t>
            </a:r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compute_prefix_function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…</a:t>
            </a:r>
          </a:p>
          <a:p>
            <a:b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"ABABDABACDABABCABAB"</a:t>
            </a:r>
            <a:endParaRPr lang="de-D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"ABABCABAB"</a:t>
            </a:r>
            <a:endParaRPr lang="de-D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kmp_search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de-DE" b="0" dirty="0" err="1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Образец найден в позиции </a:t>
            </a:r>
            <a:r>
              <a:rPr lang="ru-RU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de-D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de-DE" b="0" dirty="0" err="1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Образец не найден"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TextBox 2">
            <a:hlinkClick r:id="rId2"/>
            <a:extLst>
              <a:ext uri="{FF2B5EF4-FFF2-40B4-BE49-F238E27FC236}">
                <a16:creationId xmlns:a16="http://schemas.microsoft.com/office/drawing/2014/main" id="{68E4575B-66D6-19D5-56A7-31E590E2EF95}"/>
              </a:ext>
            </a:extLst>
          </p:cNvPr>
          <p:cNvSpPr txBox="1"/>
          <p:nvPr/>
        </p:nvSpPr>
        <p:spPr>
          <a:xfrm>
            <a:off x="8965345" y="443653"/>
            <a:ext cx="4589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1392.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Longest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 Happy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Prefix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Box 4">
            <a:hlinkClick r:id="rId2"/>
            <a:extLst>
              <a:ext uri="{FF2B5EF4-FFF2-40B4-BE49-F238E27FC236}">
                <a16:creationId xmlns:a16="http://schemas.microsoft.com/office/drawing/2014/main" id="{23B98EBD-F1C5-5C13-B149-076F76447DC9}"/>
              </a:ext>
            </a:extLst>
          </p:cNvPr>
          <p:cNvSpPr txBox="1"/>
          <p:nvPr/>
        </p:nvSpPr>
        <p:spPr>
          <a:xfrm>
            <a:off x="8965345" y="1038513"/>
            <a:ext cx="4589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214.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Shortest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 Palindrome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402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2289</TotalTime>
  <Words>895</Words>
  <Application>Microsoft Office PowerPoint</Application>
  <PresentationFormat>Произвольный</PresentationFormat>
  <Paragraphs>162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Илья Паньковский</dc:creator>
  <cp:keywords/>
  <dc:description>generated using python-pptx</dc:description>
  <cp:lastModifiedBy>Илья Паньковский</cp:lastModifiedBy>
  <cp:revision>324</cp:revision>
  <dcterms:created xsi:type="dcterms:W3CDTF">2013-01-27T09:14:16Z</dcterms:created>
  <dcterms:modified xsi:type="dcterms:W3CDTF">2025-11-22T21:14:23Z</dcterms:modified>
  <cp:category/>
</cp:coreProperties>
</file>